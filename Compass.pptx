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7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1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6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5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73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4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1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0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2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7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4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3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3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3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2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4100945"/>
            <a:ext cx="2926080" cy="2757055"/>
          </a:xfrm>
          <a:prstGeom prst="rtTriangl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384048"/>
            <a:ext cx="1600200" cy="628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148841"/>
            <a:ext cx="8229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2E7D32"/>
                </a:solidFill>
                <a:latin typeface="Segoe UI"/>
              </a:rPr>
              <a:t>OPENTEXT EXSTREAM  ·  AI DOCUMENTATION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14600"/>
            <a:ext cx="1051560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 dirty="0">
                <a:solidFill>
                  <a:srgbClr val="1D4ED8"/>
                </a:solidFill>
                <a:latin typeface="Segoe UI Semibold"/>
              </a:rPr>
              <a:t>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8778240" cy="729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dirty="0">
                <a:solidFill>
                  <a:srgbClr val="555B63"/>
                </a:solidFill>
                <a:latin typeface="Segoe UI"/>
              </a:rPr>
              <a:t>Turn hours of documentation search into seconds of cited answers —</a:t>
            </a:r>
          </a:p>
          <a:p>
            <a:pPr algn="l">
              <a:lnSpc>
                <a:spcPct val="115000"/>
              </a:lnSpc>
            </a:pPr>
            <a:r>
              <a:rPr sz="1800" b="0" i="0" dirty="0">
                <a:solidFill>
                  <a:srgbClr val="555B63"/>
                </a:solidFill>
                <a:latin typeface="Segoe UI"/>
              </a:rPr>
              <a:t>so your teams spend time serving customers, not searching folders.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6390" y="5713500"/>
            <a:ext cx="4358917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 dirty="0">
                <a:solidFill>
                  <a:srgbClr val="2E7D32"/>
                </a:solidFill>
                <a:latin typeface="Segoe UI"/>
              </a:rPr>
              <a:t>Let's insure the future.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4429" y="6480149"/>
            <a:ext cx="82296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555B63"/>
                </a:solidFill>
                <a:latin typeface="Segoe UI"/>
              </a:rPr>
              <a:t>Prepared by </a:t>
            </a:r>
            <a:r>
              <a:rPr sz="1050" b="0" i="0" dirty="0" err="1">
                <a:solidFill>
                  <a:srgbClr val="555B63"/>
                </a:solidFill>
                <a:latin typeface="Segoe UI"/>
              </a:rPr>
              <a:t>Sai</a:t>
            </a:r>
            <a:r>
              <a:rPr sz="1050" b="0" i="0" dirty="0">
                <a:solidFill>
                  <a:srgbClr val="555B63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555B63"/>
                </a:solidFill>
                <a:latin typeface="Segoe UI"/>
              </a:rPr>
              <a:t>Kiran</a:t>
            </a:r>
            <a:r>
              <a:rPr sz="1050" b="0" i="0" dirty="0">
                <a:solidFill>
                  <a:srgbClr val="555B63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555B63"/>
                </a:solidFill>
                <a:latin typeface="Segoe UI"/>
              </a:rPr>
              <a:t>Arvala</a:t>
            </a:r>
            <a:r>
              <a:rPr sz="1050" b="0" i="0" dirty="0">
                <a:solidFill>
                  <a:srgbClr val="555B63"/>
                </a:solidFill>
                <a:latin typeface="Segoe UI"/>
              </a:rPr>
              <a:t>  ·  CCM </a:t>
            </a:r>
            <a:r>
              <a:rPr sz="1050" b="0" i="0" dirty="0" smtClean="0">
                <a:solidFill>
                  <a:srgbClr val="555B63"/>
                </a:solidFill>
                <a:latin typeface="Segoe UI"/>
              </a:rPr>
              <a:t>·  </a:t>
            </a:r>
            <a:r>
              <a:rPr sz="1050" b="0" i="0" dirty="0">
                <a:solidFill>
                  <a:srgbClr val="555B63"/>
                </a:solidFill>
                <a:latin typeface="Segoe UI"/>
              </a:rPr>
              <a:t>Value Momentum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441655" y="3874109"/>
            <a:ext cx="2484425" cy="2606040"/>
          </a:xfrm>
          <a:prstGeom prst="rtTriangl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1"/>
            <a:ext cx="8229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2E7D32"/>
                </a:solidFill>
                <a:latin typeface="Segoe UI"/>
              </a:rPr>
              <a:t>THE COST OF SLOW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9"/>
            <a:ext cx="10515600" cy="11596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 dirty="0">
                <a:solidFill>
                  <a:srgbClr val="1D4ED8"/>
                </a:solidFill>
                <a:latin typeface="Segoe UI Semibold"/>
              </a:rPr>
              <a:t>Every manual search is time you're not billing —</a:t>
            </a:r>
          </a:p>
          <a:p>
            <a:pPr algn="l">
              <a:lnSpc>
                <a:spcPct val="102000"/>
              </a:lnSpc>
            </a:pPr>
            <a:r>
              <a:rPr sz="3400" b="1" i="0" dirty="0">
                <a:solidFill>
                  <a:srgbClr val="1D4ED8"/>
                </a:solidFill>
                <a:latin typeface="Segoe UI Semibold"/>
              </a:rPr>
              <a:t>and a customer not being served.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69748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606040"/>
            <a:ext cx="104058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dirty="0">
                <a:solidFill>
                  <a:srgbClr val="222427"/>
                </a:solidFill>
                <a:latin typeface="Segoe UI"/>
              </a:rPr>
              <a:t>Every configuration question that takes 20 minutes to research  </a:t>
            </a:r>
            <a:r>
              <a:rPr sz="1650" b="0" dirty="0">
                <a:solidFill>
                  <a:srgbClr val="555B63"/>
                </a:solidFill>
                <a:latin typeface="Segoe UI"/>
              </a:rPr>
              <a:t>is 20 minutes not spent on implementation, support, or the next deal.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3291840"/>
            <a:ext cx="104058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3,583+ pages and 29+ guides across three product variants  </a:t>
            </a:r>
            <a:r>
              <a:rPr sz="1650" b="0">
                <a:solidFill>
                  <a:srgbClr val="555B63"/>
                </a:solidFill>
                <a:latin typeface="Segoe UI"/>
              </a:rPr>
              <a:t>mean the right answer is usually just hard to find — not missing.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06908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3977640"/>
            <a:ext cx="104058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Every ticket that escalates instead of resolving on contact  </a:t>
            </a:r>
            <a:r>
              <a:rPr sz="1650" b="0">
                <a:solidFill>
                  <a:srgbClr val="555B63"/>
                </a:solidFill>
                <a:latin typeface="Segoe UI"/>
              </a:rPr>
              <a:t>costs far more in engineering time than the original question ever justified.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75488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66344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dirty="0">
                <a:solidFill>
                  <a:srgbClr val="222427"/>
                </a:solidFill>
                <a:latin typeface="Segoe UI"/>
              </a:rPr>
              <a:t>Vector-search tools drift and need retraining  </a:t>
            </a:r>
            <a:r>
              <a:rPr sz="1650" b="0" dirty="0">
                <a:solidFill>
                  <a:srgbClr val="555B63"/>
                </a:solidFill>
                <a:latin typeface="Segoe UI"/>
              </a:rPr>
              <a:t>an ongoing engineering tax most teams never budgeted for.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9327" y="6355081"/>
            <a:ext cx="54864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555B63"/>
                </a:solidFill>
                <a:latin typeface="Segoe UI"/>
              </a:rPr>
              <a:t>Compass — AI Documentation Assistant for </a:t>
            </a:r>
            <a:r>
              <a:rPr sz="950" b="0" i="0" dirty="0" err="1">
                <a:solidFill>
                  <a:srgbClr val="555B63"/>
                </a:solidFill>
                <a:latin typeface="Segoe UI"/>
              </a:rPr>
              <a:t>OpenText</a:t>
            </a:r>
            <a:r>
              <a:rPr sz="950" b="0" i="0" dirty="0">
                <a:solidFill>
                  <a:srgbClr val="555B63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555B63"/>
                </a:solidFill>
                <a:latin typeface="Segoe UI"/>
              </a:rPr>
              <a:t>Exstream</a:t>
            </a:r>
            <a:endParaRPr sz="950" b="0" i="0" dirty="0">
              <a:solidFill>
                <a:srgbClr val="555B63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14255" y="6355081"/>
            <a:ext cx="1828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02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2" y="4274820"/>
            <a:ext cx="2369127" cy="2586644"/>
          </a:xfrm>
          <a:prstGeom prst="rtTriangl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1"/>
            <a:ext cx="8229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2E7D32"/>
                </a:solidFill>
                <a:latin typeface="Segoe U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11596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 dirty="0" smtClean="0">
                <a:solidFill>
                  <a:srgbClr val="1D4ED8"/>
                </a:solidFill>
                <a:latin typeface="Segoe UI Semibold"/>
              </a:rPr>
              <a:t>No </a:t>
            </a:r>
            <a:r>
              <a:rPr sz="3400" b="1" i="0" dirty="0">
                <a:solidFill>
                  <a:srgbClr val="1D4ED8"/>
                </a:solidFill>
                <a:latin typeface="Segoe UI Semibold"/>
              </a:rPr>
              <a:t>embedding drift.</a:t>
            </a:r>
          </a:p>
          <a:p>
            <a:pPr algn="l">
              <a:lnSpc>
                <a:spcPct val="102000"/>
              </a:lnSpc>
            </a:pPr>
            <a:r>
              <a:rPr sz="3400" b="1" i="0" dirty="0">
                <a:solidFill>
                  <a:srgbClr val="1D4ED8"/>
                </a:solidFill>
                <a:latin typeface="Segoe UI Semibold"/>
              </a:rPr>
              <a:t>Just answers that stay accurate as your docs do.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88036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788920"/>
            <a:ext cx="104058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Zero retraining cost when documentation changes  </a:t>
            </a:r>
            <a:r>
              <a:rPr sz="1650" b="0">
                <a:solidFill>
                  <a:srgbClr val="555B63"/>
                </a:solidFill>
                <a:latin typeface="Segoe UI"/>
              </a:rPr>
              <a:t>docs update, Compass reads the new files directly — no pipeline to rerun.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56616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347472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dirty="0">
                <a:solidFill>
                  <a:srgbClr val="222427"/>
                </a:solidFill>
                <a:latin typeface="Segoe UI"/>
              </a:rPr>
              <a:t>Deterministic, explainable retrieval  </a:t>
            </a:r>
            <a:r>
              <a:rPr sz="1650" b="0" dirty="0">
                <a:solidFill>
                  <a:srgbClr val="555B63"/>
                </a:solidFill>
                <a:latin typeface="Segoe UI"/>
              </a:rPr>
              <a:t>every answer can be traced and defended, not just trusted blindly.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25196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416052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Full corpus coverage from day one  </a:t>
            </a:r>
            <a:r>
              <a:rPr sz="1650" b="0">
                <a:solidFill>
                  <a:srgbClr val="555B63"/>
                </a:solidFill>
                <a:latin typeface="Segoe UI"/>
              </a:rPr>
              <a:t>~3,970 documents indexed today — no phased rollout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355081"/>
            <a:ext cx="54864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555B63"/>
                </a:solidFill>
                <a:latin typeface="Segoe UI"/>
              </a:rPr>
              <a:t>Compass — AI Documentation Assistant for </a:t>
            </a:r>
            <a:r>
              <a:rPr sz="950" b="0" i="0" dirty="0" err="1">
                <a:solidFill>
                  <a:srgbClr val="555B63"/>
                </a:solidFill>
                <a:latin typeface="Segoe UI"/>
              </a:rPr>
              <a:t>OpenText</a:t>
            </a:r>
            <a:r>
              <a:rPr sz="950" b="0" i="0" dirty="0">
                <a:solidFill>
                  <a:srgbClr val="555B63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555B63"/>
                </a:solidFill>
                <a:latin typeface="Segoe UI"/>
              </a:rPr>
              <a:t>Exstream</a:t>
            </a:r>
            <a:endParaRPr sz="950" b="0" i="0" dirty="0">
              <a:solidFill>
                <a:srgbClr val="555B63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14255" y="6355081"/>
            <a:ext cx="1828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03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1" y="4251960"/>
            <a:ext cx="2484425" cy="2606040"/>
          </a:xfrm>
          <a:prstGeom prst="rtTriangl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1"/>
            <a:ext cx="8229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2E7D32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9"/>
            <a:ext cx="10515600" cy="56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 dirty="0">
                <a:solidFill>
                  <a:srgbClr val="1D4ED8"/>
                </a:solidFill>
                <a:latin typeface="Segoe UI Semibold"/>
              </a:rPr>
              <a:t>Seconds, not hours — every answer traceable to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606040"/>
            <a:ext cx="1847088" cy="123444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Segoe UI"/>
              </a:rPr>
              <a:t>Your Question</a:t>
            </a:r>
          </a:p>
          <a:p>
            <a:pPr algn="ctr"/>
            <a:r>
              <a:rPr sz="1000" dirty="0">
                <a:solidFill>
                  <a:srgbClr val="FFFFFF"/>
                </a:solidFill>
                <a:latin typeface="Segoe UI"/>
              </a:rPr>
              <a:t>Asked in plain
language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3095244"/>
            <a:ext cx="201168" cy="256032"/>
          </a:xfrm>
          <a:prstGeom prst="rightArrow">
            <a:avLst/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70048" y="2606040"/>
            <a:ext cx="1847088" cy="123444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Guardrails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Safety &amp; scope
checked first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17136" y="3095244"/>
            <a:ext cx="201168" cy="256032"/>
          </a:xfrm>
          <a:prstGeom prst="rightArrow">
            <a:avLst/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18304" y="2606040"/>
            <a:ext cx="1847088" cy="123444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Full-Corpus
Search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Every relevant
doc considered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65392" y="3095244"/>
            <a:ext cx="201168" cy="256032"/>
          </a:xfrm>
          <a:prstGeom prst="rightArrow">
            <a:avLst/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0" y="2606040"/>
            <a:ext cx="1847088" cy="123444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Segoe UI"/>
              </a:rPr>
              <a:t>Cited Answer</a:t>
            </a:r>
          </a:p>
          <a:p>
            <a:pPr algn="ctr"/>
            <a:r>
              <a:rPr sz="1350" b="1" dirty="0">
                <a:solidFill>
                  <a:srgbClr val="FFFFFF"/>
                </a:solidFill>
                <a:latin typeface="Segoe UI"/>
              </a:rPr>
              <a:t>Generated with
inline sources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13648" y="3095244"/>
            <a:ext cx="201168" cy="256032"/>
          </a:xfrm>
          <a:prstGeom prst="rightArrow">
            <a:avLst/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14816" y="2606040"/>
            <a:ext cx="1847088" cy="123444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Guardrail-
Checked Reply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Verified before
it reaches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1"/>
            <a:ext cx="10607040" cy="6647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 dirty="0">
                <a:solidFill>
                  <a:srgbClr val="555B63"/>
                </a:solidFill>
                <a:latin typeface="Segoe UI"/>
              </a:rPr>
              <a:t>No support queue, no folder-hunting — a direct path from question to a defensible,</a:t>
            </a:r>
          </a:p>
          <a:p>
            <a:pPr algn="l">
              <a:lnSpc>
                <a:spcPct val="120000"/>
              </a:lnSpc>
            </a:pPr>
            <a:r>
              <a:rPr sz="1550" b="0" i="0" dirty="0">
                <a:solidFill>
                  <a:srgbClr val="555B63"/>
                </a:solidFill>
                <a:latin typeface="Segoe UI"/>
              </a:rPr>
              <a:t>source-linked answer, with a visible reasoning trail behind every response.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7855" y="6442480"/>
            <a:ext cx="54864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Compass — AI Documentation Assistant for OpenText Exstream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255" y="6355081"/>
            <a:ext cx="1828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04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3" y="4480560"/>
            <a:ext cx="2175162" cy="2380903"/>
          </a:xfrm>
          <a:prstGeom prst="rtTriangl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020" y="188878"/>
            <a:ext cx="1600200" cy="628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079431" y="310896"/>
            <a:ext cx="1892808" cy="92069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457200"/>
            <a:ext cx="1600200" cy="628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1"/>
            <a:ext cx="8229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2E7D32"/>
                </a:solidFill>
                <a:latin typeface="Segoe UI"/>
              </a:rPr>
              <a:t>ENTERPRISE TRUST REDUCES YOUR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41248"/>
            <a:ext cx="1042416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rgbClr val="1D4ED8"/>
                </a:solidFill>
                <a:latin typeface="Segoe UI Semibold"/>
              </a:rPr>
              <a:t>Built to pass security </a:t>
            </a:r>
            <a:r>
              <a:rPr sz="3000" b="1" dirty="0" smtClean="0">
                <a:solidFill>
                  <a:srgbClr val="1D4ED8"/>
                </a:solidFill>
                <a:latin typeface="Segoe UI Semibold"/>
              </a:rPr>
              <a:t>review</a:t>
            </a:r>
            <a:r>
              <a:rPr lang="en-US" sz="3000" b="1" dirty="0" smtClean="0">
                <a:solidFill>
                  <a:srgbClr val="1D4ED8"/>
                </a:solidFill>
                <a:latin typeface="Segoe UI Semibold"/>
              </a:rPr>
              <a:t>.</a:t>
            </a:r>
            <a:endParaRPr sz="3000" b="1" dirty="0">
              <a:solidFill>
                <a:srgbClr val="1D4ED8"/>
              </a:solidFill>
              <a:latin typeface="Segoe UI Semibold"/>
            </a:endParaRPr>
          </a:p>
        </p:txBody>
      </p:sp>
      <p:sp>
        <p:nvSpPr>
          <p:cNvPr id="7" name="Oval 6"/>
          <p:cNvSpPr/>
          <p:nvPr/>
        </p:nvSpPr>
        <p:spPr>
          <a:xfrm>
            <a:off x="685800" y="2240280"/>
            <a:ext cx="100584" cy="100584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14884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Blocks prompt injection, harmful, and off-topic requests  </a:t>
            </a:r>
            <a:r>
              <a:rPr sz="1650" b="0">
                <a:solidFill>
                  <a:srgbClr val="555B63"/>
                </a:solidFill>
                <a:latin typeface="Segoe UI"/>
              </a:rPr>
              <a:t>before they become a security incident.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26080"/>
            <a:ext cx="100584" cy="100584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83464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Automatically redacts PII and secrets  </a:t>
            </a:r>
            <a:r>
              <a:rPr sz="1650" b="0">
                <a:solidFill>
                  <a:srgbClr val="555B63"/>
                </a:solidFill>
                <a:latin typeface="Segoe UI"/>
              </a:rPr>
              <a:t>reducing your data-leak liability by design.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611880"/>
            <a:ext cx="100584" cy="100584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3520440"/>
            <a:ext cx="104058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Flags low-confidence or ungrounded answers  </a:t>
            </a:r>
            <a:r>
              <a:rPr sz="1650" b="0">
                <a:solidFill>
                  <a:srgbClr val="555B63"/>
                </a:solidFill>
                <a:latin typeface="Segoe UI"/>
              </a:rPr>
              <a:t>protects your team from acting on a confident-sounding guess.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312781"/>
            <a:ext cx="100584" cy="100584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4189948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dirty="0">
                <a:solidFill>
                  <a:srgbClr val="222427"/>
                </a:solidFill>
                <a:latin typeface="Segoe UI"/>
              </a:rPr>
              <a:t>Per-identity rate limiting, even on open access  </a:t>
            </a:r>
            <a:r>
              <a:rPr sz="1650" b="0" dirty="0">
                <a:solidFill>
                  <a:srgbClr val="555B63"/>
                </a:solidFill>
                <a:latin typeface="Segoe UI"/>
              </a:rPr>
              <a:t>protects uptime and cost as adoption scales.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355081"/>
            <a:ext cx="54864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9D6F5"/>
                </a:solidFill>
                <a:latin typeface="Segoe UI"/>
              </a:rPr>
              <a:t>Compass — AI Documentation Assistant for OpenText Exstream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4255" y="6355081"/>
            <a:ext cx="1828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9D6F5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6260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 dirty="0">
                <a:solidFill>
                  <a:srgbClr val="1D4ED8"/>
                </a:solidFill>
                <a:latin typeface="Segoe UI Semibold"/>
              </a:rPr>
              <a:t>Already reducing search </a:t>
            </a:r>
            <a:r>
              <a:rPr lang="en-US" sz="3400" b="1" i="0" dirty="0" smtClean="0">
                <a:solidFill>
                  <a:srgbClr val="1D4ED8"/>
                </a:solidFill>
                <a:latin typeface="Segoe UI Semibold"/>
              </a:rPr>
              <a:t>time</a:t>
            </a:r>
            <a:endParaRPr sz="3400" b="1" i="0" dirty="0">
              <a:solidFill>
                <a:srgbClr val="1D4ED8"/>
              </a:solidFill>
              <a:latin typeface="Segoe UI Semibold"/>
            </a:endParaRPr>
          </a:p>
        </p:txBody>
      </p:sp>
      <p:sp>
        <p:nvSpPr>
          <p:cNvPr id="5" name="Oval 4"/>
          <p:cNvSpPr/>
          <p:nvPr/>
        </p:nvSpPr>
        <p:spPr>
          <a:xfrm>
            <a:off x="685800" y="256032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46888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dirty="0">
                <a:solidFill>
                  <a:srgbClr val="222427"/>
                </a:solidFill>
                <a:latin typeface="Segoe UI"/>
              </a:rPr>
              <a:t>Deployed and running now  </a:t>
            </a:r>
            <a:r>
              <a:rPr sz="1650" b="0" dirty="0">
                <a:solidFill>
                  <a:srgbClr val="555B63"/>
                </a:solidFill>
                <a:latin typeface="Segoe UI"/>
              </a:rPr>
              <a:t>covering both Cloud Native and Server Based documentation.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24612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315468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Chat interface with source citations  </a:t>
            </a:r>
            <a:r>
              <a:rPr sz="1650" b="0">
                <a:solidFill>
                  <a:srgbClr val="555B63"/>
                </a:solidFill>
                <a:latin typeface="Segoe UI"/>
              </a:rPr>
              <a:t>and a full reasoning trail behind every answer.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93192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384048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One-click variant switch  </a:t>
            </a:r>
            <a:r>
              <a:rPr sz="1650" b="0">
                <a:solidFill>
                  <a:srgbClr val="555B63"/>
                </a:solidFill>
                <a:latin typeface="Segoe UI"/>
              </a:rPr>
              <a:t>between Cloud Native and Server Based corpora, per query.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61772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52628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dirty="0">
                <a:solidFill>
                  <a:srgbClr val="222427"/>
                </a:solidFill>
                <a:latin typeface="Segoe UI"/>
              </a:rPr>
              <a:t>Guardrail status shown transparently  </a:t>
            </a:r>
            <a:r>
              <a:rPr sz="1650" b="0" dirty="0">
                <a:solidFill>
                  <a:srgbClr val="555B63"/>
                </a:solidFill>
                <a:latin typeface="Segoe UI"/>
              </a:rPr>
              <a:t>in the UI, not hidden from the people using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647" y="6195061"/>
            <a:ext cx="54864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555B63"/>
                </a:solidFill>
                <a:latin typeface="Segoe UI"/>
              </a:rPr>
              <a:t>Compass — AI Documentation Assistant for </a:t>
            </a:r>
            <a:r>
              <a:rPr sz="950" b="0" i="0" dirty="0" err="1">
                <a:solidFill>
                  <a:srgbClr val="555B63"/>
                </a:solidFill>
                <a:latin typeface="Segoe UI"/>
              </a:rPr>
              <a:t>OpenText</a:t>
            </a:r>
            <a:r>
              <a:rPr sz="950" b="0" i="0" dirty="0">
                <a:solidFill>
                  <a:srgbClr val="555B63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555B63"/>
                </a:solidFill>
                <a:latin typeface="Segoe UI"/>
              </a:rPr>
              <a:t>Exstream</a:t>
            </a:r>
            <a:endParaRPr sz="950" b="0" i="0" dirty="0">
              <a:solidFill>
                <a:srgbClr val="555B63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14255" y="6355081"/>
            <a:ext cx="1828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06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0" y="4753217"/>
            <a:ext cx="1645920" cy="2080260"/>
          </a:xfrm>
          <a:prstGeom prst="rtTriangl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384048"/>
            <a:ext cx="1600200" cy="628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1"/>
            <a:ext cx="822960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7D32"/>
                </a:solidFill>
                <a:latin typeface="Segoe U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9"/>
            <a:ext cx="10515600" cy="6260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D4ED8"/>
                </a:solidFill>
                <a:latin typeface="Segoe UI Semibold"/>
              </a:rPr>
              <a:t>The scale, unified into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651761"/>
            <a:ext cx="260604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1D4ED8"/>
                </a:solidFill>
                <a:latin typeface="Segoe UI Semibold"/>
              </a:rPr>
              <a:t>3,970+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520441"/>
            <a:ext cx="2606040" cy="8356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555B63"/>
                </a:solidFill>
                <a:latin typeface="Segoe UI"/>
              </a:rPr>
              <a:t>documents indexed today —</a:t>
            </a:r>
          </a:p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555B63"/>
                </a:solidFill>
                <a:latin typeface="Segoe UI"/>
              </a:rPr>
              <a:t>HTML and PDF, one searchable 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7832" y="2651761"/>
            <a:ext cx="260604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2E7D32"/>
                </a:solidFill>
                <a:latin typeface="Segoe UI Semibol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3520441"/>
            <a:ext cx="2606040" cy="5878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555B63"/>
                </a:solidFill>
                <a:latin typeface="Segoe UI"/>
              </a:rPr>
              <a:t>authoring </a:t>
            </a:r>
            <a:r>
              <a:rPr sz="1400" b="0" i="0" dirty="0" err="1">
                <a:solidFill>
                  <a:srgbClr val="555B63"/>
                </a:solidFill>
                <a:latin typeface="Segoe UI"/>
              </a:rPr>
              <a:t>toolchains</a:t>
            </a:r>
            <a:r>
              <a:rPr sz="1400" b="0" i="0" dirty="0">
                <a:solidFill>
                  <a:srgbClr val="555B63"/>
                </a:solidFill>
                <a:latin typeface="Segoe UI"/>
              </a:rPr>
              <a:t> unified</a:t>
            </a:r>
          </a:p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555B63"/>
                </a:solidFill>
                <a:latin typeface="Segoe UI"/>
              </a:rPr>
              <a:t>into a single answer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872" y="2651761"/>
            <a:ext cx="260604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1D4ED8"/>
                </a:solidFill>
                <a:latin typeface="Segoe UI Semibold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3520440"/>
            <a:ext cx="2606040" cy="5878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 dirty="0" err="1">
                <a:solidFill>
                  <a:srgbClr val="555B63"/>
                </a:solidFill>
                <a:latin typeface="Segoe UI"/>
              </a:rPr>
              <a:t>embeddings</a:t>
            </a:r>
            <a:r>
              <a:rPr sz="1400" b="0" i="0" dirty="0">
                <a:solidFill>
                  <a:srgbClr val="555B63"/>
                </a:solidFill>
                <a:latin typeface="Segoe UI"/>
              </a:rPr>
              <a:t> to retrain when</a:t>
            </a:r>
          </a:p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555B63"/>
                </a:solidFill>
                <a:latin typeface="Segoe UI"/>
              </a:rPr>
              <a:t>documentation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2651761"/>
            <a:ext cx="260604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2E7D32"/>
                </a:solidFill>
                <a:latin typeface="Segoe UI Semibold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3520440"/>
            <a:ext cx="2606040" cy="5878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555B63"/>
                </a:solidFill>
                <a:latin typeface="Segoe UI"/>
              </a:rPr>
              <a:t>of answers ship with inline</a:t>
            </a:r>
          </a:p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555B63"/>
                </a:solidFill>
                <a:latin typeface="Segoe UI"/>
              </a:rPr>
              <a:t>citations back to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937" y="6355081"/>
            <a:ext cx="54864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555B63"/>
                </a:solidFill>
                <a:latin typeface="Segoe UI"/>
              </a:rPr>
              <a:t>Compass — AI Documentation Assistant for </a:t>
            </a:r>
            <a:r>
              <a:rPr sz="950" b="0" i="0" dirty="0" err="1">
                <a:solidFill>
                  <a:srgbClr val="555B63"/>
                </a:solidFill>
                <a:latin typeface="Segoe UI"/>
              </a:rPr>
              <a:t>OpenText</a:t>
            </a:r>
            <a:r>
              <a:rPr sz="950" b="0" i="0" dirty="0">
                <a:solidFill>
                  <a:srgbClr val="555B63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555B63"/>
                </a:solidFill>
                <a:latin typeface="Segoe UI"/>
              </a:rPr>
              <a:t>Exstream</a:t>
            </a:r>
            <a:endParaRPr sz="950" b="0" i="0" dirty="0">
              <a:solidFill>
                <a:srgbClr val="555B63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14255" y="6355081"/>
            <a:ext cx="1828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07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0" y="4627418"/>
            <a:ext cx="1828800" cy="2230582"/>
          </a:xfrm>
          <a:prstGeom prst="rtTriangl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384048"/>
            <a:ext cx="1600200" cy="628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1"/>
            <a:ext cx="822960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7D32"/>
                </a:solidFill>
                <a:latin typeface="Segoe UI"/>
              </a:rPr>
              <a:t>YOUR INVESTMENT KEEPS COMPOUNDING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9"/>
            <a:ext cx="10515600" cy="6260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D4ED8"/>
                </a:solidFill>
                <a:latin typeface="Segoe UI Semibold"/>
              </a:rPr>
              <a:t>Where Compass is headed.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56032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46888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dirty="0">
                <a:solidFill>
                  <a:srgbClr val="222427"/>
                </a:solidFill>
                <a:latin typeface="Segoe UI"/>
              </a:rPr>
              <a:t>A full reasoning agent  </a:t>
            </a:r>
            <a:r>
              <a:rPr sz="1650" b="0" dirty="0">
                <a:solidFill>
                  <a:srgbClr val="555B63"/>
                </a:solidFill>
                <a:latin typeface="Segoe UI"/>
              </a:rPr>
              <a:t>model-planned, multi-step research across the entire doc tree.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24612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315468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Hierarchical index-tree navigation  </a:t>
            </a:r>
            <a:r>
              <a:rPr sz="1650" b="0">
                <a:solidFill>
                  <a:srgbClr val="555B63"/>
                </a:solidFill>
                <a:latin typeface="Segoe UI"/>
              </a:rPr>
              <a:t>faster, deeper answers on complex questions.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93192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384048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PDF guides folded into the same corpus  </a:t>
            </a:r>
            <a:r>
              <a:rPr sz="1650" b="0">
                <a:solidFill>
                  <a:srgbClr val="555B63"/>
                </a:solidFill>
                <a:latin typeface="Segoe UI"/>
              </a:rPr>
              <a:t>one searchable index instead of separate silos.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617720"/>
            <a:ext cx="100584" cy="10058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526280"/>
            <a:ext cx="104058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222427"/>
                </a:solidFill>
                <a:latin typeface="Segoe UI"/>
              </a:rPr>
              <a:t>A 300-query evaluation harness  </a:t>
            </a:r>
            <a:r>
              <a:rPr sz="1650" b="0">
                <a:solidFill>
                  <a:srgbClr val="555B63"/>
                </a:solidFill>
                <a:latin typeface="Segoe UI"/>
              </a:rPr>
              <a:t>tracking accuracy, latency, and citation correctness over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55081"/>
            <a:ext cx="54864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Compass — AI Documentation Assistant for OpenText Exstream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355081"/>
            <a:ext cx="1828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08</a:t>
            </a:r>
          </a:p>
        </p:txBody>
      </p:sp>
      <p:pic>
        <p:nvPicPr>
          <p:cNvPr id="15" name="Picture 14" descr="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384048"/>
            <a:ext cx="1600200" cy="628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1"/>
            <a:ext cx="8229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2E7D32"/>
                </a:solidFill>
                <a:latin typeface="Segoe UI"/>
              </a:rPr>
              <a:t>THE RETURN ON A FASTER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9"/>
            <a:ext cx="10515600" cy="56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 dirty="0">
                <a:solidFill>
                  <a:srgbClr val="1D4ED8"/>
                </a:solidFill>
                <a:latin typeface="Segoe UI Semibold"/>
              </a:rPr>
              <a:t>Fewer tickets. Faster onboarding. More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194560"/>
            <a:ext cx="507492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1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792" y="2194560"/>
            <a:ext cx="82296" cy="17373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359153"/>
            <a:ext cx="4572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1D4ED8"/>
                </a:solidFill>
                <a:latin typeface="Segoe UI Semibold"/>
              </a:rPr>
              <a:t>Implementation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61488"/>
            <a:ext cx="4572000" cy="6586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555B63"/>
                </a:solidFill>
                <a:latin typeface="Segoe UI"/>
              </a:rPr>
              <a:t>Hours back on every configuration question — answers in seconds, not a research detour.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194560"/>
            <a:ext cx="507492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1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2194560"/>
            <a:ext cx="82296" cy="17373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359153"/>
            <a:ext cx="4572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1D4ED8"/>
                </a:solidFill>
                <a:latin typeface="Segoe UI Semibold"/>
              </a:rP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761488"/>
            <a:ext cx="4572000" cy="6586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555B63"/>
                </a:solidFill>
                <a:latin typeface="Segoe UI"/>
              </a:rPr>
              <a:t>Fewer escalations and faster first-response, with every answer backed by a source citation.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297680"/>
            <a:ext cx="507492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1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" y="4297680"/>
            <a:ext cx="82296" cy="17373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462273"/>
            <a:ext cx="4572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1D4ED8"/>
                </a:solidFill>
                <a:latin typeface="Segoe UI Semibold"/>
              </a:rP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64608"/>
            <a:ext cx="4572000" cy="6586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555B63"/>
                </a:solidFill>
                <a:latin typeface="Segoe UI"/>
              </a:rPr>
              <a:t>Self-serve, cited answers instead of waiting in a queue for a simple documentation question.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4297680"/>
            <a:ext cx="507492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1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4297680"/>
            <a:ext cx="82296" cy="17373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4462273"/>
            <a:ext cx="4572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1D4ED8"/>
                </a:solidFill>
                <a:latin typeface="Segoe UI Semibold"/>
              </a:rPr>
              <a:t>OpenText</a:t>
            </a:r>
            <a:endParaRPr b="1" i="0" dirty="0">
              <a:solidFill>
                <a:srgbClr val="1D4ED8"/>
              </a:solidFill>
              <a:latin typeface="Segoe UI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3952" y="4864608"/>
            <a:ext cx="4572000" cy="9417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555B63"/>
                </a:solidFill>
                <a:latin typeface="Segoe UI"/>
              </a:rPr>
              <a:t>A reusable pattern for documentation-heavy CCM products — proven on </a:t>
            </a:r>
            <a:r>
              <a:rPr sz="1600" b="0" i="0" dirty="0" err="1">
                <a:solidFill>
                  <a:srgbClr val="555B63"/>
                </a:solidFill>
                <a:latin typeface="Segoe UI"/>
              </a:rPr>
              <a:t>Exstream</a:t>
            </a:r>
            <a:r>
              <a:rPr sz="1600" b="0" i="0" dirty="0">
                <a:solidFill>
                  <a:srgbClr val="555B63"/>
                </a:solidFill>
                <a:latin typeface="Segoe UI"/>
              </a:rPr>
              <a:t>, extensible beyond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55081"/>
            <a:ext cx="54864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Compass — AI Documentation Assistant for OpenText Exstream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4255" y="6355081"/>
            <a:ext cx="1828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3"/>
                </a:solidFill>
                <a:latin typeface="Segoe UI"/>
              </a:rPr>
              <a:t>09</a:t>
            </a:r>
          </a:p>
        </p:txBody>
      </p:sp>
      <p:pic>
        <p:nvPicPr>
          <p:cNvPr id="23" name="Picture 22" descr="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384048"/>
            <a:ext cx="1600200" cy="628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8899855" y="3566160"/>
            <a:ext cx="3291840" cy="3291840"/>
          </a:xfrm>
          <a:prstGeom prst="rtTriangl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79431" y="310896"/>
            <a:ext cx="1892808" cy="92069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457200"/>
            <a:ext cx="1600200" cy="6280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71601"/>
            <a:ext cx="8229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9FC6FF"/>
                </a:solidFill>
                <a:latin typeface="Segoe UI"/>
              </a:rPr>
              <a:t>NEXT </a:t>
            </a:r>
            <a:r>
              <a:rPr sz="1600" b="1" i="0" dirty="0" smtClean="0">
                <a:solidFill>
                  <a:srgbClr val="9FC6FF"/>
                </a:solidFill>
                <a:latin typeface="Segoe UI"/>
              </a:rPr>
              <a:t>STEP</a:t>
            </a:r>
            <a:r>
              <a:rPr lang="en-US" sz="1600" b="1" i="0" dirty="0" smtClean="0">
                <a:solidFill>
                  <a:srgbClr val="9FC6FF"/>
                </a:solidFill>
                <a:latin typeface="Segoe UI"/>
              </a:rPr>
              <a:t>: Demo</a:t>
            </a:r>
            <a:endParaRPr sz="1600" b="1" i="0" dirty="0">
              <a:solidFill>
                <a:srgbClr val="9FC6FF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9875520" cy="11264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 dirty="0">
                <a:solidFill>
                  <a:srgbClr val="FFFFFF"/>
                </a:solidFill>
                <a:latin typeface="Segoe UI Semibold"/>
              </a:rPr>
              <a:t>See Compass answer your own</a:t>
            </a:r>
          </a:p>
          <a:p>
            <a:pPr algn="l">
              <a:lnSpc>
                <a:spcPct val="105000"/>
              </a:lnSpc>
            </a:pPr>
            <a:r>
              <a:rPr sz="3200" b="1" i="0" dirty="0">
                <a:solidFill>
                  <a:srgbClr val="FFFFFF"/>
                </a:solidFill>
                <a:latin typeface="Segoe UI Semibold"/>
              </a:rPr>
              <a:t>documentation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82296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FFFFFF"/>
                </a:solidFill>
                <a:latin typeface="Segoe UI Semibold"/>
              </a:rPr>
              <a:t>Let's insure the future.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4CAF50"/>
                </a:solidFill>
                <a:latin typeface="Segoe UI Semibold"/>
              </a:rPr>
              <a:t>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8229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 err="1">
                <a:solidFill>
                  <a:srgbClr val="C9D6F5"/>
                </a:solidFill>
                <a:latin typeface="Segoe UI"/>
              </a:rPr>
              <a:t>Sai</a:t>
            </a:r>
            <a:r>
              <a:rPr sz="1300" b="0" i="0" dirty="0">
                <a:solidFill>
                  <a:srgbClr val="C9D6F5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C9D6F5"/>
                </a:solidFill>
                <a:latin typeface="Segoe UI"/>
              </a:rPr>
              <a:t>Kiran</a:t>
            </a:r>
            <a:r>
              <a:rPr sz="1300" b="0" i="0" dirty="0">
                <a:solidFill>
                  <a:srgbClr val="C9D6F5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C9D6F5"/>
                </a:solidFill>
                <a:latin typeface="Segoe UI"/>
              </a:rPr>
              <a:t>Arvala</a:t>
            </a:r>
            <a:r>
              <a:rPr sz="1300" b="0" i="0" dirty="0">
                <a:solidFill>
                  <a:srgbClr val="C9D6F5"/>
                </a:solidFill>
                <a:latin typeface="Segoe UI"/>
              </a:rPr>
              <a:t>  ·  CCM </a:t>
            </a:r>
            <a:r>
              <a:rPr sz="1300" b="0" i="0" dirty="0" smtClean="0">
                <a:solidFill>
                  <a:srgbClr val="C9D6F5"/>
                </a:solidFill>
                <a:latin typeface="Segoe UI"/>
              </a:rPr>
              <a:t>·  </a:t>
            </a:r>
            <a:r>
              <a:rPr sz="1300" b="0" i="0" dirty="0">
                <a:solidFill>
                  <a:srgbClr val="C9D6F5"/>
                </a:solidFill>
                <a:latin typeface="Segoe UI"/>
              </a:rPr>
              <a:t>Value Momentum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8229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C6FF"/>
                </a:solidFill>
                <a:latin typeface="Segoe UI"/>
              </a:rPr>
              <a:t>Compass — AI Documentation Assistant for OpenText Exstream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719</Words>
  <Application>Microsoft Office PowerPoint</Application>
  <PresentationFormat>Custom</PresentationFormat>
  <Paragraphs>97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Sai Kiran</cp:lastModifiedBy>
  <cp:revision>5</cp:revision>
  <dcterms:created xsi:type="dcterms:W3CDTF">2013-01-27T09:14:16Z</dcterms:created>
  <dcterms:modified xsi:type="dcterms:W3CDTF">2026-09-01T03:43:36Z</dcterms:modified>
  <cp:category/>
</cp:coreProperties>
</file>