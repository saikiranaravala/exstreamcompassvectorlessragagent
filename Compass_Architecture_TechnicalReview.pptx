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D4ED8"/>
                </a:solidFill>
                <a:latin typeface="Consolas"/>
              </a:rPr>
              <a:t>TECHNICAL ARCHITECTURE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1A1E2B"/>
                </a:solidFill>
                <a:latin typeface="Segoe UI Semibold"/>
              </a:rPr>
              <a:t>Compass — 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11880"/>
            <a:ext cx="9144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B6478"/>
                </a:solidFill>
                <a:latin typeface="Segoe UI"/>
              </a:rPr>
              <a:t>System context, component map, request-flow sequences, agent internals,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B6478"/>
                </a:solidFill>
                <a:latin typeface="Segoe UI"/>
              </a:rPr>
              <a:t>and deployment/data topology — as implemented in the codebase today.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A90A3"/>
                </a:solidFill>
                <a:latin typeface="Segoe UI"/>
              </a:rPr>
              <a:t>Prepared for Architect &amp; Sr. Leadership review  ·  Sai Kiran Arvala  ·  Value Momentum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526280"/>
            <a:ext cx="596188" cy="274320"/>
          </a:xfrm>
          <a:prstGeom prst="roundRect">
            <a:avLst>
              <a:gd name="adj" fmla="val 50000"/>
            </a:avLst>
          </a:prstGeom>
          <a:solidFill>
            <a:srgbClr val="E1F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2E7D32"/>
                </a:solidFill>
                <a:latin typeface="Consolas"/>
              </a:rPr>
              <a:t>ACTIVE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452628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478"/>
                </a:solidFill>
                <a:latin typeface="Segoe UI"/>
              </a:rPr>
              <a:t>= running in production today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892040"/>
            <a:ext cx="896112" cy="274320"/>
          </a:xfrm>
          <a:prstGeom prst="roundRect">
            <a:avLst>
              <a:gd name="adj" fmla="val 50000"/>
            </a:avLst>
          </a:prstGeom>
          <a:solidFill>
            <a:srgbClr val="FB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B4740E"/>
                </a:solidFill>
                <a:latin typeface="Consolas"/>
              </a:rPr>
              <a:t>NOT ACTIVE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489204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B6478"/>
                </a:solidFill>
                <a:latin typeface="Segoe UI"/>
              </a:rPr>
              <a:t>= implemented but not wired in, or planned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D4ED8"/>
                </a:solidFill>
                <a:latin typeface="Consolas"/>
              </a:rPr>
              <a:t>01 · SYSTEM CONTEXT &amp;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A1E2B"/>
                </a:solidFill>
                <a:latin typeface="Segoe UI Semibold"/>
              </a:rPr>
              <a:t>System Context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32720" y="365760"/>
            <a:ext cx="596188" cy="274320"/>
          </a:xfrm>
          <a:prstGeom prst="roundRect">
            <a:avLst>
              <a:gd name="adj" fmla="val 50000"/>
            </a:avLst>
          </a:prstGeom>
          <a:solidFill>
            <a:srgbClr val="E1F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2E7D32"/>
                </a:solidFill>
                <a:latin typeface="Consolas"/>
              </a:rPr>
              <a:t>ACTIVE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2700">
            <a:solidFill>
              <a:srgbClr val="D7DE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0A3"/>
                </a:solidFill>
                <a:latin typeface="Consolas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2560320"/>
            <a:ext cx="2103120" cy="1005840"/>
          </a:xfrm>
          <a:prstGeom prst="roundRect">
            <a:avLst>
              <a:gd name="adj" fmla="val 10000"/>
            </a:avLst>
          </a:prstGeom>
          <a:solidFill>
            <a:srgbClr val="102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1600">
                <a:solidFill>
                  <a:srgbClr val="FFFFFF"/>
                </a:solidFill>
                <a:latin typeface="Segoe UI"/>
              </a:rPr>
              <a:t>Compass</a:t>
            </a:r>
          </a:p>
          <a:p>
            <a:pPr algn="ctr"/>
            <a:r>
              <a:rPr sz="950">
                <a:solidFill>
                  <a:srgbClr val="FFFFFF"/>
                </a:solidFill>
                <a:latin typeface="Segoe UI"/>
              </a:rPr>
              <a:t>Vectorless RAG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100">
                <a:solidFill>
                  <a:srgbClr val="1A1E2B"/>
                </a:solidFill>
                <a:latin typeface="Segoe UI Semibold"/>
              </a:rPr>
              <a:t>Support &amp; Implementation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9184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100">
                <a:solidFill>
                  <a:srgbClr val="1A1E2B"/>
                </a:solidFill>
                <a:latin typeface="Segoe UI Semibold"/>
              </a:rPr>
              <a:t>Teams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28800" y="2880360"/>
            <a:ext cx="2194560" cy="45720"/>
          </a:xfrm>
          <a:prstGeom prst="line">
            <a:avLst/>
          </a:prstGeom>
          <a:ln w="15875">
            <a:solidFill>
              <a:srgbClr val="5B64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554480" y="251460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i="1">
                <a:solidFill>
                  <a:srgbClr val="5B6478"/>
                </a:solidFill>
                <a:latin typeface="Segoe UI"/>
              </a:rPr>
              <a:t>asks a question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1828800" y="3200400"/>
            <a:ext cx="2194560" cy="228600"/>
          </a:xfrm>
          <a:prstGeom prst="line">
            <a:avLst/>
          </a:prstGeom>
          <a:ln w="15875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554480" y="352044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i="1">
                <a:solidFill>
                  <a:srgbClr val="5B6478"/>
                </a:solidFill>
                <a:latin typeface="Segoe UI"/>
              </a:rPr>
              <a:t>cited answer + trace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2103120"/>
            <a:ext cx="265176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1150">
                <a:solidFill>
                  <a:srgbClr val="1A1E2B"/>
                </a:solidFill>
                <a:latin typeface="Segoe UI"/>
              </a:rPr>
              <a:t>OpenRouter</a:t>
            </a:r>
          </a:p>
          <a:p>
            <a:pPr algn="ctr"/>
            <a:r>
              <a:rPr sz="850">
                <a:solidFill>
                  <a:srgbClr val="5B6478"/>
                </a:solidFill>
                <a:latin typeface="Segoe UI"/>
              </a:rPr>
              <a:t>DeepSeek (deepseek-v4)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6172200" y="2491740.0"/>
            <a:ext cx="2331720" cy="434340.0"/>
          </a:xfrm>
          <a:prstGeom prst="line">
            <a:avLst/>
          </a:prstGeom>
          <a:ln w="15875">
            <a:solidFill>
              <a:srgbClr val="1D4E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503920" y="3044952"/>
            <a:ext cx="265176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B4740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1150">
                <a:solidFill>
                  <a:srgbClr val="1A1E2B"/>
                </a:solidFill>
                <a:latin typeface="Segoe UI"/>
              </a:rPr>
              <a:t>Anthropic API</a:t>
            </a:r>
          </a:p>
          <a:p>
            <a:pPr algn="ctr"/>
            <a:r>
              <a:rPr sz="850">
                <a:solidFill>
                  <a:srgbClr val="5B6478"/>
                </a:solidFill>
                <a:latin typeface="Segoe UI"/>
              </a:rPr>
              <a:t>Claude Haiku — indexing only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172200" y="2926080"/>
            <a:ext cx="2331720" cy="507492.0"/>
          </a:xfrm>
          <a:prstGeom prst="line">
            <a:avLst/>
          </a:prstGeom>
          <a:ln w="15875">
            <a:solidFill>
              <a:srgbClr val="B4740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503920" y="3986784"/>
            <a:ext cx="265176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1150">
                <a:solidFill>
                  <a:srgbClr val="1A1E2B"/>
                </a:solidFill>
                <a:latin typeface="Segoe UI"/>
              </a:rPr>
              <a:t>Exstream Doc Corpus</a:t>
            </a:r>
          </a:p>
          <a:p>
            <a:pPr algn="ctr"/>
            <a:r>
              <a:rPr sz="850">
                <a:solidFill>
                  <a:srgbClr val="5B6478"/>
                </a:solidFill>
                <a:latin typeface="Segoe UI"/>
              </a:rPr>
              <a:t>3,583+ HTML · 29+ PDFs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172200" y="2926080"/>
            <a:ext cx="2331720" cy="1449324.0"/>
          </a:xfrm>
          <a:prstGeom prst="line">
            <a:avLst/>
          </a:prstGeom>
          <a:ln w="15875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503920" y="4928616"/>
            <a:ext cx="265176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5B6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1150">
                <a:solidFill>
                  <a:srgbClr val="1A1E2B"/>
                </a:solidFill>
                <a:latin typeface="Segoe UI"/>
              </a:rPr>
              <a:t>Render.com</a:t>
            </a:r>
          </a:p>
          <a:p>
            <a:pPr algn="ctr"/>
            <a:r>
              <a:rPr sz="850">
                <a:solidFill>
                  <a:srgbClr val="5B6478"/>
                </a:solidFill>
                <a:latin typeface="Segoe UI"/>
              </a:rPr>
              <a:t>Web Service + Static Site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172200" y="2926080"/>
            <a:ext cx="2331720" cy="2391156.0"/>
          </a:xfrm>
          <a:prstGeom prst="line">
            <a:avLst/>
          </a:prstGeom>
          <a:ln w="15875">
            <a:solidFill>
              <a:srgbClr val="5B64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37960" y="196596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i="1">
                <a:solidFill>
                  <a:srgbClr val="5B6478"/>
                </a:solidFill>
                <a:latin typeface="Segoe UI"/>
              </a:rPr>
              <a:t>reasoning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98932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478"/>
                </a:solidFill>
                <a:latin typeface="Segoe UI"/>
              </a:rPr>
              <a:t>Compass sits between your teams and the Exstream corpus. DeepSeek (via OpenRouter) generates every runtime answer; Anthropic/Claude Haiku runs only offline for index-tree summarization — it never touches a live query.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D4ED8"/>
                </a:solidFill>
                <a:latin typeface="Consolas"/>
              </a:rPr>
              <a:t>01 · SYSTEM CONTEXT &amp;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A1E2B"/>
                </a:solidFill>
                <a:latin typeface="Segoe UI Semibold"/>
              </a:rPr>
              <a:t>Component / Container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32720" y="365760"/>
            <a:ext cx="521208" cy="274320"/>
          </a:xfrm>
          <a:prstGeom prst="roundRect">
            <a:avLst>
              <a:gd name="adj" fmla="val 50000"/>
            </a:avLst>
          </a:prstGeom>
          <a:solidFill>
            <a:srgbClr val="E1F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2E7D32"/>
                </a:solidFill>
                <a:latin typeface="Consolas"/>
              </a:rPr>
              <a:t>MIXED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2700">
            <a:solidFill>
              <a:srgbClr val="D7DE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0A3"/>
                </a:solidFill>
                <a:latin typeface="Consola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2468880" cy="640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7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63624"/>
            <a:ext cx="224942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B6478"/>
                </a:solidFill>
                <a:latin typeface="Consolas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81051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8"/>
                </a:solidFill>
                <a:latin typeface="Segoe UI"/>
              </a:rPr>
              <a:t>React + Vite · Chat · Citations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1508760"/>
            <a:ext cx="2286000" cy="640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7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55848" y="1563624"/>
            <a:ext cx="20665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B6478"/>
                </a:solidFill>
                <a:latin typeface="Consolas"/>
              </a:rPr>
              <a:t>API GATEWAY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1810512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8"/>
                </a:solidFill>
                <a:latin typeface="Segoe UI"/>
              </a:rPr>
              <a:t>Auth · RateLimiter · CORS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423160"/>
            <a:ext cx="5120640" cy="1554480"/>
          </a:xfrm>
          <a:prstGeom prst="roundRect">
            <a:avLst>
              <a:gd name="adj" fmla="val 3500"/>
            </a:avLst>
          </a:prstGeom>
          <a:solidFill>
            <a:srgbClr val="E3EAFC"/>
          </a:solidFill>
          <a:ln w="1587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478024"/>
            <a:ext cx="49011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D4ED8"/>
                </a:solidFill>
                <a:latin typeface="Consolas"/>
              </a:rPr>
              <a:t>PATH A — ACTIVE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788920"/>
            <a:ext cx="2286000" cy="1005840"/>
          </a:xfrm>
          <a:prstGeom prst="roundRect">
            <a:avLst>
              <a:gd name="adj" fmla="val 1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1100">
                <a:solidFill>
                  <a:srgbClr val="FFFFFF"/>
                </a:solidFill>
                <a:latin typeface="Segoe UI"/>
              </a:rPr>
              <a:t>app.py routes</a:t>
            </a:r>
          </a:p>
          <a:p>
            <a:pPr algn="ctr"/>
            <a:r>
              <a:rPr sz="950">
                <a:solidFill>
                  <a:srgbClr val="FFFFFF"/>
                </a:solidFill>
                <a:latin typeface="Segoe UI"/>
              </a:rPr>
              <a:t>POST /api/v1/query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46120" y="2788920"/>
            <a:ext cx="2194560" cy="1005840"/>
          </a:xfrm>
          <a:prstGeom prst="roundRect">
            <a:avLst>
              <a:gd name="adj" fmla="val 1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1100">
                <a:solidFill>
                  <a:srgbClr val="FFFFFF"/>
                </a:solidFill>
                <a:latin typeface="Segoe UI"/>
              </a:rPr>
              <a:t>QueryService</a:t>
            </a:r>
          </a:p>
          <a:p>
            <a:pPr algn="ctr"/>
            <a:r>
              <a:rPr sz="950">
                <a:solidFill>
                  <a:srgbClr val="FFFFFF"/>
                </a:solidFill>
                <a:latin typeface="Segoe UI"/>
              </a:rPr>
              <a:t>warmup() · search() · query()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2423160"/>
            <a:ext cx="4754880" cy="1554480"/>
          </a:xfrm>
          <a:prstGeom prst="roundRect">
            <a:avLst>
              <a:gd name="adj" fmla="val 3500"/>
            </a:avLst>
          </a:prstGeom>
          <a:solidFill>
            <a:srgbClr val="FBF1DF"/>
          </a:solidFill>
          <a:ln w="15875">
            <a:solidFill>
              <a:srgbClr val="B4740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9048" y="2478024"/>
            <a:ext cx="453542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4740E"/>
                </a:solidFill>
                <a:latin typeface="Consolas"/>
              </a:rPr>
              <a:t>PATH B — NOT REGISTERED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788920"/>
            <a:ext cx="146304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B4740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1000">
                <a:solidFill>
                  <a:srgbClr val="B4740E"/>
                </a:solidFill>
                <a:latin typeface="Segoe UI"/>
              </a:rPr>
              <a:t>CompassRouter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0" y="2606040"/>
            <a:ext cx="137160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B4740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950">
                <a:solidFill>
                  <a:srgbClr val="B4740E"/>
                </a:solidFill>
                <a:latin typeface="Segoe UI"/>
              </a:rPr>
              <a:t>SessionManager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6880" y="2606040"/>
            <a:ext cx="12801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B4740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900">
                <a:solidFill>
                  <a:srgbClr val="B4740E"/>
                </a:solidFill>
                <a:latin typeface="Segoe UI"/>
              </a:rPr>
              <a:t>ReasoningAgent
(LangGraph)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18120" y="3337560"/>
            <a:ext cx="27889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B4740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900">
                <a:solidFill>
                  <a:srgbClr val="5B6478"/>
                </a:solidFill>
                <a:latin typeface="Segoe UI"/>
              </a:rPr>
              <a:t>AuditLogger — logs every tool call &amp; decision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251960"/>
            <a:ext cx="8366760" cy="777240"/>
          </a:xfrm>
          <a:prstGeom prst="roundRect">
            <a:avLst>
              <a:gd name="adj" fmla="val 3500"/>
            </a:avLst>
          </a:prstGeom>
          <a:solidFill>
            <a:srgbClr val="E1F2E2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306824"/>
            <a:ext cx="814730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E7D32"/>
                </a:solidFill>
                <a:latin typeface="Consolas"/>
              </a:rPr>
              <a:t>RETRIEVAL LAYER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553712"/>
            <a:ext cx="1965960" cy="411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1000">
                <a:solidFill>
                  <a:srgbClr val="2E7D32"/>
                </a:solidFill>
                <a:latin typeface="Segoe UI"/>
              </a:rPr>
              <a:t>CorpusStore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697480" y="4754880"/>
            <a:ext cx="73152" cy="0"/>
          </a:xfrm>
          <a:prstGeom prst="line">
            <a:avLst/>
          </a:prstGeom>
          <a:ln w="1270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2770632" y="4553712"/>
            <a:ext cx="1965960" cy="411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1000">
                <a:solidFill>
                  <a:srgbClr val="2E7D32"/>
                </a:solidFill>
                <a:latin typeface="Segoe UI"/>
              </a:rPr>
              <a:t>BM25Index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736592" y="4754880"/>
            <a:ext cx="73152" cy="0"/>
          </a:xfrm>
          <a:prstGeom prst="line">
            <a:avLst/>
          </a:prstGeom>
          <a:ln w="1270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809744" y="4553712"/>
            <a:ext cx="1965960" cy="411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1000">
                <a:solidFill>
                  <a:srgbClr val="2E7D32"/>
                </a:solidFill>
                <a:latin typeface="Segoe UI"/>
              </a:rPr>
              <a:t>best_passage()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775704" y="4754880"/>
            <a:ext cx="73152" cy="0"/>
          </a:xfrm>
          <a:prstGeom prst="line">
            <a:avLst/>
          </a:prstGeom>
          <a:ln w="1270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848856" y="4553712"/>
            <a:ext cx="1965960" cy="411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1000">
                <a:solidFill>
                  <a:srgbClr val="2E7D32"/>
                </a:solidFill>
                <a:latin typeface="Segoe UI"/>
              </a:rPr>
              <a:t>generate_answer()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257800"/>
            <a:ext cx="4023360" cy="594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5B6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312664"/>
            <a:ext cx="380390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B6478"/>
                </a:solidFill>
                <a:latin typeface="Consolas"/>
              </a:rPr>
              <a:t>GUARDRAILS PIPELINE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5559552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8"/>
                </a:solidFill>
                <a:latin typeface="Segoe UI"/>
              </a:rPr>
              <a:t>input + output + rate-limit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00600" y="5257800"/>
            <a:ext cx="3200400" cy="594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5B6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10328" y="5312664"/>
            <a:ext cx="29809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B6478"/>
                </a:solidFill>
                <a:latin typeface="Consolas"/>
              </a:rPr>
              <a:t>ORCHESTRATION SERVICES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10328" y="5559552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8"/>
                </a:solidFill>
                <a:latin typeface="Segoe UI"/>
              </a:rPr>
              <a:t>session · citations · audit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0" y="5257800"/>
            <a:ext cx="2514600" cy="594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5B6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39328" y="5312664"/>
            <a:ext cx="22951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B6478"/>
                </a:solidFill>
                <a:latin typeface="Consolas"/>
              </a:rPr>
              <a:t>INDEXER (offline)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39327" y="555955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5B6478"/>
                </a:solidFill>
                <a:latin typeface="Segoe UI"/>
              </a:rPr>
              <a:t>html_parser · pdf_parser · index_tree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783080" y="2148840"/>
            <a:ext cx="0" cy="274320"/>
          </a:xfrm>
          <a:prstGeom prst="line">
            <a:avLst/>
          </a:prstGeom>
          <a:ln w="15875">
            <a:solidFill>
              <a:srgbClr val="5B64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4434840" y="2148840"/>
            <a:ext cx="0" cy="274320"/>
          </a:xfrm>
          <a:prstGeom prst="line">
            <a:avLst/>
          </a:prstGeom>
          <a:ln w="15875">
            <a:solidFill>
              <a:srgbClr val="5B64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48640" y="598932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478"/>
                </a:solidFill>
                <a:latin typeface="Segoe UI"/>
              </a:rPr>
              <a:t>The dashed Path B box (CompassRouter · SessionManager · ReasoningAgent) is fully implemented but requires an explicit CompassRouter.register_with_app(app) call app.py doesn't make today.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D4ED8"/>
                </a:solidFill>
                <a:latin typeface="Consolas"/>
              </a:rPr>
              <a:t>02 · REQUEST FLOW &amp;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A1E2B"/>
                </a:solidFill>
                <a:latin typeface="Segoe UI Semibold"/>
              </a:rPr>
              <a:t>Query Lifecycle — Path A (production today)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32720" y="365760"/>
            <a:ext cx="596188" cy="274320"/>
          </a:xfrm>
          <a:prstGeom prst="roundRect">
            <a:avLst>
              <a:gd name="adj" fmla="val 50000"/>
            </a:avLst>
          </a:prstGeom>
          <a:solidFill>
            <a:srgbClr val="E1F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2E7D32"/>
                </a:solidFill>
                <a:latin typeface="Consolas"/>
              </a:rPr>
              <a:t>ACTIVE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2700">
            <a:solidFill>
              <a:srgbClr val="D7DE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0A3"/>
                </a:solidFill>
                <a:latin typeface="Consola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354" y="128016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100">
                <a:solidFill>
                  <a:srgbClr val="1A1E2B"/>
                </a:solidFill>
                <a:latin typeface="Segoe UI Semibold"/>
              </a:rPr>
              <a:t>User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87474" y="1783080"/>
            <a:ext cx="0" cy="4114800"/>
          </a:xfrm>
          <a:prstGeom prst="line">
            <a:avLst/>
          </a:prstGeom>
          <a:ln w="12700">
            <a:solidFill>
              <a:srgbClr val="D7DEE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430703" y="128016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100">
                <a:solidFill>
                  <a:srgbClr val="1A1E2B"/>
                </a:solidFill>
                <a:latin typeface="Segoe UI Semibold"/>
              </a:rPr>
              <a:t>Frontend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390823" y="1783080"/>
            <a:ext cx="0" cy="4114800"/>
          </a:xfrm>
          <a:prstGeom prst="line">
            <a:avLst/>
          </a:prstGeom>
          <a:ln w="12700">
            <a:solidFill>
              <a:srgbClr val="D7DEE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234052" y="128016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100">
                <a:solidFill>
                  <a:srgbClr val="1A1E2B"/>
                </a:solidFill>
                <a:latin typeface="Segoe UI Semibold"/>
              </a:rPr>
              <a:t>app.py +
Gateway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194172" y="1783080"/>
            <a:ext cx="0" cy="4114800"/>
          </a:xfrm>
          <a:prstGeom prst="line">
            <a:avLst/>
          </a:prstGeom>
          <a:ln w="12700">
            <a:solidFill>
              <a:srgbClr val="D7DEE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037402" y="128016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100">
                <a:solidFill>
                  <a:srgbClr val="1A1E2B"/>
                </a:solidFill>
                <a:latin typeface="Segoe UI Semibold"/>
              </a:rPr>
              <a:t>Guardrail
Pipeline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997522" y="1783080"/>
            <a:ext cx="0" cy="4114800"/>
          </a:xfrm>
          <a:prstGeom prst="line">
            <a:avLst/>
          </a:prstGeom>
          <a:ln w="12700">
            <a:solidFill>
              <a:srgbClr val="D7DEE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840751" y="128016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100">
                <a:solidFill>
                  <a:srgbClr val="1A1E2B"/>
                </a:solidFill>
                <a:latin typeface="Segoe UI Semibold"/>
              </a:rPr>
              <a:t>QueryService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800871" y="1783080"/>
            <a:ext cx="0" cy="4114800"/>
          </a:xfrm>
          <a:prstGeom prst="line">
            <a:avLst/>
          </a:prstGeom>
          <a:ln w="12700">
            <a:solidFill>
              <a:srgbClr val="D7DEE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644100" y="128016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100">
                <a:solidFill>
                  <a:srgbClr val="1A1E2B"/>
                </a:solidFill>
                <a:latin typeface="Segoe UI Semibold"/>
              </a:rPr>
              <a:t>DeepSeek
(OpenRouter)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604220" y="1783080"/>
            <a:ext cx="0" cy="4114800"/>
          </a:xfrm>
          <a:prstGeom prst="line">
            <a:avLst/>
          </a:prstGeom>
          <a:ln w="12700">
            <a:solidFill>
              <a:srgbClr val="D7DEE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587474" y="2148840"/>
            <a:ext cx="1803349" cy="0"/>
          </a:xfrm>
          <a:prstGeom prst="line">
            <a:avLst/>
          </a:prstGeom>
          <a:ln w="19050">
            <a:solidFill>
              <a:srgbClr val="1D4E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587474" y="1856232"/>
            <a:ext cx="180334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1A1E2B"/>
                </a:solidFill>
                <a:latin typeface="Segoe UI"/>
              </a:rPr>
              <a:t>asks a question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390823" y="2551176"/>
            <a:ext cx="1803349" cy="0"/>
          </a:xfrm>
          <a:prstGeom prst="line">
            <a:avLst/>
          </a:prstGeom>
          <a:ln w="19050">
            <a:solidFill>
              <a:srgbClr val="1D4E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390823" y="2258568"/>
            <a:ext cx="180334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1A1E2B"/>
                </a:solidFill>
                <a:latin typeface="Segoe UI"/>
              </a:rPr>
              <a:t>POST /api/v1/query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194172" y="2953512"/>
            <a:ext cx="1803350" cy="0"/>
          </a:xfrm>
          <a:prstGeom prst="line">
            <a:avLst/>
          </a:prstGeom>
          <a:ln w="19050">
            <a:solidFill>
              <a:srgbClr val="1D4E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194172" y="2660904"/>
            <a:ext cx="180335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1A1E2B"/>
                </a:solidFill>
                <a:latin typeface="Segoe UI"/>
              </a:rPr>
              <a:t>check_request(query, identity)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5194172" y="3355848"/>
            <a:ext cx="1803350" cy="0"/>
          </a:xfrm>
          <a:prstGeom prst="line">
            <a:avLst/>
          </a:prstGeom>
          <a:ln w="19050">
            <a:solidFill>
              <a:srgbClr val="5B647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194172" y="3063240"/>
            <a:ext cx="180335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1A1E2B"/>
                </a:solidFill>
                <a:latin typeface="Segoe UI"/>
              </a:rPr>
              <a:t>ALLOW / REFUSE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94172" y="3483864"/>
            <a:ext cx="180335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1">
                <a:solidFill>
                  <a:srgbClr val="B4740E"/>
                </a:solidFill>
                <a:latin typeface="Segoe UI"/>
              </a:rPr>
              <a:t>blocked → refusal, 0 retrieval/LLM calls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194172" y="3867912"/>
            <a:ext cx="3606699" cy="0"/>
          </a:xfrm>
          <a:prstGeom prst="line">
            <a:avLst/>
          </a:prstGeom>
          <a:ln w="19050">
            <a:solidFill>
              <a:srgbClr val="1D4E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194172" y="3575304"/>
            <a:ext cx="36066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1A1E2B"/>
                </a:solidFill>
                <a:latin typeface="Segoe UI"/>
              </a:rPr>
              <a:t>query(query, variant)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800871" y="4270248"/>
            <a:ext cx="1803349" cy="0"/>
          </a:xfrm>
          <a:prstGeom prst="line">
            <a:avLst/>
          </a:prstGeom>
          <a:ln w="19050">
            <a:solidFill>
              <a:srgbClr val="1D4E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800871" y="3977640"/>
            <a:ext cx="180334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1A1E2B"/>
                </a:solidFill>
                <a:latin typeface="Segoe UI"/>
              </a:rPr>
              <a:t>generate_answer(excerpts)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8800871" y="4672584"/>
            <a:ext cx="1803349" cy="0"/>
          </a:xfrm>
          <a:prstGeom prst="line">
            <a:avLst/>
          </a:prstGeom>
          <a:ln w="19050">
            <a:solidFill>
              <a:srgbClr val="5B647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800871" y="4379976"/>
            <a:ext cx="180334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1A1E2B"/>
                </a:solidFill>
                <a:latin typeface="Segoe UI"/>
              </a:rPr>
              <a:t>cited markdown answer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5194172" y="5074920"/>
            <a:ext cx="3606699" cy="0"/>
          </a:xfrm>
          <a:prstGeom prst="line">
            <a:avLst/>
          </a:prstGeom>
          <a:ln w="19050">
            <a:solidFill>
              <a:srgbClr val="5B647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194172" y="4782312"/>
            <a:ext cx="36066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1A1E2B"/>
                </a:solidFill>
                <a:latin typeface="Segoe UI"/>
              </a:rPr>
              <a:t>answer + citations + trace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3390823" y="5477256"/>
            <a:ext cx="1803349" cy="0"/>
          </a:xfrm>
          <a:prstGeom prst="line">
            <a:avLst/>
          </a:prstGeom>
          <a:ln w="19050">
            <a:solidFill>
              <a:srgbClr val="5B647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390823" y="5184648"/>
            <a:ext cx="180334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1A1E2B"/>
                </a:solidFill>
                <a:latin typeface="Segoe UI"/>
              </a:rPr>
              <a:t>response + guardrail block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1587474" y="5879592"/>
            <a:ext cx="1803349" cy="0"/>
          </a:xfrm>
          <a:prstGeom prst="line">
            <a:avLst/>
          </a:prstGeom>
          <a:ln w="19050">
            <a:solidFill>
              <a:srgbClr val="5B647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587474" y="5586984"/>
            <a:ext cx="180334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1A1E2B"/>
                </a:solidFill>
                <a:latin typeface="Segoe UI"/>
              </a:rPr>
              <a:t>rendered answer + citations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98932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478"/>
                </a:solidFill>
                <a:latin typeface="Segoe UI"/>
              </a:rPr>
              <a:t>Sync def handlers keep the blocking index build / LLM call off the event loop. A blocked request never reaches retrieval or the LLM.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D4ED8"/>
                </a:solidFill>
                <a:latin typeface="Consolas"/>
              </a:rPr>
              <a:t>02 · REQUEST FLOW &amp;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A1E2B"/>
                </a:solidFill>
                <a:latin typeface="Segoe UI Semibold"/>
              </a:rPr>
              <a:t>Query Lifecycle — Path B (implemented, not active)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32720" y="365760"/>
            <a:ext cx="896112" cy="274320"/>
          </a:xfrm>
          <a:prstGeom prst="roundRect">
            <a:avLst>
              <a:gd name="adj" fmla="val 50000"/>
            </a:avLst>
          </a:prstGeom>
          <a:solidFill>
            <a:srgbClr val="FB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B4740E"/>
                </a:solidFill>
                <a:latin typeface="Consolas"/>
              </a:rPr>
              <a:t>NOT ACTIVE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2700">
            <a:solidFill>
              <a:srgbClr val="D7DE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0A3"/>
                </a:solidFill>
                <a:latin typeface="Consolas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354" y="128016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100">
                <a:solidFill>
                  <a:srgbClr val="1A1E2B"/>
                </a:solidFill>
                <a:latin typeface="Segoe UI Semibold"/>
              </a:rPr>
              <a:t>User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87474" y="1783080"/>
            <a:ext cx="0" cy="4114800"/>
          </a:xfrm>
          <a:prstGeom prst="line">
            <a:avLst/>
          </a:prstGeom>
          <a:ln w="12700">
            <a:solidFill>
              <a:srgbClr val="D7DEE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430703" y="128016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100">
                <a:solidFill>
                  <a:srgbClr val="1A1E2B"/>
                </a:solidFill>
                <a:latin typeface="Segoe UI Semibold"/>
              </a:rPr>
              <a:t>CompassRouter
(not registered)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390823" y="1783080"/>
            <a:ext cx="0" cy="4114800"/>
          </a:xfrm>
          <a:prstGeom prst="line">
            <a:avLst/>
          </a:prstGeom>
          <a:ln w="12700">
            <a:solidFill>
              <a:srgbClr val="D7DEE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234052" y="128016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100">
                <a:solidFill>
                  <a:srgbClr val="1A1E2B"/>
                </a:solidFill>
                <a:latin typeface="Segoe UI Semibold"/>
              </a:rPr>
              <a:t>Session
Manager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194172" y="1783080"/>
            <a:ext cx="0" cy="4114800"/>
          </a:xfrm>
          <a:prstGeom prst="line">
            <a:avLst/>
          </a:prstGeom>
          <a:ln w="12700">
            <a:solidFill>
              <a:srgbClr val="D7DEE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037402" y="128016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100">
                <a:solidFill>
                  <a:srgbClr val="1A1E2B"/>
                </a:solidFill>
                <a:latin typeface="Segoe UI Semibold"/>
              </a:rPr>
              <a:t>Reasoning
Agent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997522" y="1783080"/>
            <a:ext cx="0" cy="4114800"/>
          </a:xfrm>
          <a:prstGeom prst="line">
            <a:avLst/>
          </a:prstGeom>
          <a:ln w="12700">
            <a:solidFill>
              <a:srgbClr val="D7DEE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840751" y="128016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100">
                <a:solidFill>
                  <a:srgbClr val="1A1E2B"/>
                </a:solidFill>
                <a:latin typeface="Segoe UI Semibold"/>
              </a:rPr>
              <a:t>Tool
Registry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800871" y="1783080"/>
            <a:ext cx="0" cy="4114800"/>
          </a:xfrm>
          <a:prstGeom prst="line">
            <a:avLst/>
          </a:prstGeom>
          <a:ln w="12700">
            <a:solidFill>
              <a:srgbClr val="D7DEE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644100" y="128016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100">
                <a:solidFill>
                  <a:srgbClr val="1A1E2B"/>
                </a:solidFill>
                <a:latin typeface="Segoe UI Semibold"/>
              </a:rPr>
              <a:t>Audit
Logger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604220" y="1783080"/>
            <a:ext cx="0" cy="4114800"/>
          </a:xfrm>
          <a:prstGeom prst="line">
            <a:avLst/>
          </a:prstGeom>
          <a:ln w="12700">
            <a:solidFill>
              <a:srgbClr val="D7DEE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587474" y="2148840"/>
            <a:ext cx="1803349" cy="0"/>
          </a:xfrm>
          <a:prstGeom prst="line">
            <a:avLst/>
          </a:prstGeom>
          <a:ln w="19050">
            <a:solidFill>
              <a:srgbClr val="1D4E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587474" y="1856232"/>
            <a:ext cx="180334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1A1E2B"/>
                </a:solidFill>
                <a:latin typeface="Segoe UI"/>
              </a:rPr>
              <a:t>query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390823" y="2551176"/>
            <a:ext cx="1803349" cy="0"/>
          </a:xfrm>
          <a:prstGeom prst="line">
            <a:avLst/>
          </a:prstGeom>
          <a:ln w="19050">
            <a:solidFill>
              <a:srgbClr val="1D4E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390823" y="2258568"/>
            <a:ext cx="180334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1A1E2B"/>
                </a:solidFill>
                <a:latin typeface="Segoe UI"/>
              </a:rPr>
              <a:t>create / load session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390823" y="2953512"/>
            <a:ext cx="3606699" cy="0"/>
          </a:xfrm>
          <a:prstGeom prst="line">
            <a:avLst/>
          </a:prstGeom>
          <a:ln w="19050">
            <a:solidFill>
              <a:srgbClr val="1D4E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390823" y="2660904"/>
            <a:ext cx="36066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1A1E2B"/>
                </a:solidFill>
                <a:latin typeface="Segoe UI"/>
              </a:rPr>
              <a:t>invoke(state)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997522" y="3355848"/>
            <a:ext cx="1005840" cy="0"/>
          </a:xfrm>
          <a:prstGeom prst="line">
            <a:avLst/>
          </a:prstGeom>
          <a:ln w="19050">
            <a:solidFill>
              <a:srgbClr val="1D4E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997522" y="3063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1A1E2B"/>
                </a:solidFill>
                <a:latin typeface="Segoe UI"/>
              </a:rPr>
              <a:t>plan_tools() — search-then-read plan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997522" y="3758184"/>
            <a:ext cx="1803349" cy="0"/>
          </a:xfrm>
          <a:prstGeom prst="line">
            <a:avLst/>
          </a:prstGeom>
          <a:ln w="19050">
            <a:solidFill>
              <a:srgbClr val="1D4E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997522" y="3465576"/>
            <a:ext cx="180334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1A1E2B"/>
                </a:solidFill>
                <a:latin typeface="Segoe UI"/>
              </a:rPr>
              <a:t>execute planned tools (budget-checked)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6997522" y="4160520"/>
            <a:ext cx="1803349" cy="0"/>
          </a:xfrm>
          <a:prstGeom prst="line">
            <a:avLst/>
          </a:prstGeom>
          <a:ln w="19050">
            <a:solidFill>
              <a:srgbClr val="5B647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997522" y="3867912"/>
            <a:ext cx="180334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1A1E2B"/>
                </a:solidFill>
                <a:latin typeface="Segoe UI"/>
              </a:rPr>
              <a:t>hits + doc reads (variant-isolated)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997522" y="4562856"/>
            <a:ext cx="3606698" cy="0"/>
          </a:xfrm>
          <a:prstGeom prst="line">
            <a:avLst/>
          </a:prstGeom>
          <a:ln w="19050">
            <a:solidFill>
              <a:srgbClr val="1D4E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997522" y="4270248"/>
            <a:ext cx="360669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1A1E2B"/>
                </a:solidFill>
                <a:latin typeface="Segoe UI"/>
              </a:rPr>
              <a:t>log every tool call &amp; decision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3390823" y="4965192"/>
            <a:ext cx="3606699" cy="0"/>
          </a:xfrm>
          <a:prstGeom prst="line">
            <a:avLst/>
          </a:prstGeom>
          <a:ln w="19050">
            <a:solidFill>
              <a:srgbClr val="5B647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390823" y="4672584"/>
            <a:ext cx="36066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1A1E2B"/>
                </a:solidFill>
                <a:latin typeface="Segoe UI"/>
              </a:rPr>
              <a:t>finalized answer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1587474" y="5367528"/>
            <a:ext cx="1803349" cy="0"/>
          </a:xfrm>
          <a:prstGeom prst="line">
            <a:avLst/>
          </a:prstGeom>
          <a:ln w="19050">
            <a:solidFill>
              <a:srgbClr val="5B647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587474" y="5074920"/>
            <a:ext cx="180334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1A1E2B"/>
                </a:solidFill>
                <a:latin typeface="Segoe UI"/>
              </a:rPr>
              <a:t>answer + session state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14173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B4740E"/>
                </a:solidFill>
                <a:latin typeface="Segoe UI"/>
              </a:rPr>
              <a:t>Requires CompassRouter.register_with_app(app) — not called in app.py today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98932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478"/>
                </a:solidFill>
                <a:latin typeface="Segoe UI"/>
              </a:rPr>
              <a:t>Functionally complete when constructed with a real ToolRegistry — the gap is wiring, not missing logic. Activating this removes app.py's inline routes to avoid conflicts.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D4ED8"/>
                </a:solidFill>
                <a:latin typeface="Consolas"/>
              </a:rPr>
              <a:t>02 · REQUEST FLOW &amp;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A1E2B"/>
                </a:solidFill>
                <a:latin typeface="Segoe UI Semibold"/>
              </a:rPr>
              <a:t>Guardrails Pipeline — Defense in Depth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32720" y="365760"/>
            <a:ext cx="1870862" cy="274320"/>
          </a:xfrm>
          <a:prstGeom prst="roundRect">
            <a:avLst>
              <a:gd name="adj" fmla="val 50000"/>
            </a:avLst>
          </a:prstGeom>
          <a:solidFill>
            <a:srgbClr val="E1F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2E7D32"/>
                </a:solidFill>
                <a:latin typeface="Consolas"/>
              </a:rPr>
              <a:t>EVERY QUERY, BOTH PATHS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2700">
            <a:solidFill>
              <a:srgbClr val="D7DE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0A3"/>
                </a:solidFill>
                <a:latin typeface="Consolas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160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D4ED8"/>
                </a:solidFill>
                <a:latin typeface="Consolas"/>
              </a:rPr>
              <a:t>INPUT GUARD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3246120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1100">
                <a:solidFill>
                  <a:srgbClr val="1A1E2B"/>
                </a:solidFill>
                <a:latin typeface="Segoe UI"/>
              </a:rPr>
              <a:t>Validity</a:t>
            </a:r>
          </a:p>
          <a:p>
            <a:pPr algn="ctr"/>
            <a:r>
              <a:rPr sz="850">
                <a:solidFill>
                  <a:srgbClr val="5B6478"/>
                </a:solidFill>
                <a:latin typeface="Segoe UI"/>
              </a:rPr>
              <a:t>length / encoding / letters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59352" y="1856232"/>
            <a:ext cx="841248" cy="365760"/>
          </a:xfrm>
          <a:prstGeom prst="roundRect">
            <a:avLst>
              <a:gd name="adj" fmla="val 10000"/>
            </a:avLst>
          </a:prstGeom>
          <a:solidFill>
            <a:srgbClr val="FB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850">
                <a:solidFill>
                  <a:srgbClr val="B4740E"/>
                </a:solidFill>
                <a:latin typeface="Segoe UI"/>
              </a:rPr>
              <a:t>REFUSE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63140.0" y="2340864"/>
            <a:ext cx="0.0" cy="128016"/>
          </a:xfrm>
          <a:prstGeom prst="line">
            <a:avLst/>
          </a:prstGeom>
          <a:ln w="12700">
            <a:solidFill>
              <a:srgbClr val="5B64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40080" y="2468880"/>
            <a:ext cx="3246120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1100">
                <a:solidFill>
                  <a:srgbClr val="1A1E2B"/>
                </a:solidFill>
                <a:latin typeface="Segoe UI"/>
              </a:rPr>
              <a:t>Injection / jailbreak</a:t>
            </a:r>
          </a:p>
          <a:p>
            <a:pPr algn="ctr"/>
            <a:r>
              <a:rPr sz="850">
                <a:solidFill>
                  <a:srgbClr val="5B6478"/>
                </a:solidFill>
                <a:latin typeface="Segoe UI"/>
              </a:rPr>
              <a:t>precision regex bank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59352" y="2587752"/>
            <a:ext cx="841248" cy="365760"/>
          </a:xfrm>
          <a:prstGeom prst="roundRect">
            <a:avLst>
              <a:gd name="adj" fmla="val 10000"/>
            </a:avLst>
          </a:prstGeom>
          <a:solidFill>
            <a:srgbClr val="FB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850">
                <a:solidFill>
                  <a:srgbClr val="B4740E"/>
                </a:solidFill>
                <a:latin typeface="Segoe UI"/>
              </a:rPr>
              <a:t>REFUSE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263140.0" y="3072384"/>
            <a:ext cx="0.0" cy="128016"/>
          </a:xfrm>
          <a:prstGeom prst="line">
            <a:avLst/>
          </a:prstGeom>
          <a:ln w="12700">
            <a:solidFill>
              <a:srgbClr val="5B64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0080" y="3200400"/>
            <a:ext cx="3246120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1100">
                <a:solidFill>
                  <a:srgbClr val="1A1E2B"/>
                </a:solidFill>
                <a:latin typeface="Segoe UI"/>
              </a:rPr>
              <a:t>Harmful</a:t>
            </a:r>
          </a:p>
          <a:p>
            <a:pPr algn="ctr"/>
            <a:r>
              <a:rPr sz="850">
                <a:solidFill>
                  <a:srgbClr val="5B6478"/>
                </a:solidFill>
                <a:latin typeface="Segoe UI"/>
              </a:rPr>
              <a:t>precision regex bank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59352" y="3319272"/>
            <a:ext cx="841248" cy="365760"/>
          </a:xfrm>
          <a:prstGeom prst="roundRect">
            <a:avLst>
              <a:gd name="adj" fmla="val 10000"/>
            </a:avLst>
          </a:prstGeom>
          <a:solidFill>
            <a:srgbClr val="FB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850">
                <a:solidFill>
                  <a:srgbClr val="B4740E"/>
                </a:solidFill>
                <a:latin typeface="Segoe UI"/>
              </a:rPr>
              <a:t>REFUSE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263140.0" y="3803904"/>
            <a:ext cx="0.0" cy="128016"/>
          </a:xfrm>
          <a:prstGeom prst="line">
            <a:avLst/>
          </a:prstGeom>
          <a:ln w="12700">
            <a:solidFill>
              <a:srgbClr val="5B64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40080" y="3931920"/>
            <a:ext cx="3246120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1100">
                <a:solidFill>
                  <a:srgbClr val="1A1E2B"/>
                </a:solidFill>
                <a:latin typeface="Segoe UI"/>
              </a:rPr>
              <a:t>Off-topic</a:t>
            </a:r>
          </a:p>
          <a:p>
            <a:pPr algn="ctr"/>
            <a:r>
              <a:rPr sz="850">
                <a:solidFill>
                  <a:srgbClr val="5B6478"/>
                </a:solidFill>
                <a:latin typeface="Segoe UI"/>
              </a:rPr>
              <a:t>precision regex bank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59352" y="4050792"/>
            <a:ext cx="841248" cy="365760"/>
          </a:xfrm>
          <a:prstGeom prst="roundRect">
            <a:avLst>
              <a:gd name="adj" fmla="val 10000"/>
            </a:avLst>
          </a:prstGeom>
          <a:solidFill>
            <a:srgbClr val="FB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850">
                <a:solidFill>
                  <a:srgbClr val="B4740E"/>
                </a:solidFill>
                <a:latin typeface="Segoe UI"/>
              </a:rPr>
              <a:t>REFUSE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263140.0" y="4535424"/>
            <a:ext cx="0.0" cy="128016"/>
          </a:xfrm>
          <a:prstGeom prst="line">
            <a:avLst/>
          </a:prstGeom>
          <a:ln w="12700">
            <a:solidFill>
              <a:srgbClr val="5B64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40080" y="4663440"/>
            <a:ext cx="3246120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1100">
                <a:solidFill>
                  <a:srgbClr val="1A1E2B"/>
                </a:solidFill>
                <a:latin typeface="Segoe UI"/>
              </a:rPr>
              <a:t>PII detected</a:t>
            </a:r>
          </a:p>
          <a:p>
            <a:pPr algn="ctr"/>
            <a:r>
              <a:rPr sz="850">
                <a:solidFill>
                  <a:srgbClr val="5B6478"/>
                </a:solidFill>
                <a:latin typeface="Segoe UI"/>
              </a:rPr>
              <a:t>redact_pii()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59352" y="4782312"/>
            <a:ext cx="841248" cy="365760"/>
          </a:xfrm>
          <a:prstGeom prst="roundRect">
            <a:avLst>
              <a:gd name="adj" fmla="val 10000"/>
            </a:avLst>
          </a:prstGeom>
          <a:solidFill>
            <a:srgbClr val="FB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850">
                <a:solidFill>
                  <a:srgbClr val="B4740E"/>
                </a:solidFill>
                <a:latin typeface="Segoe UI"/>
              </a:rPr>
              <a:t>SANITIZE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532120"/>
            <a:ext cx="3246120" cy="502920"/>
          </a:xfrm>
          <a:prstGeom prst="roundRect">
            <a:avLst>
              <a:gd name="adj" fmla="val 10000"/>
            </a:avLst>
          </a:prstGeom>
          <a:solidFill>
            <a:srgbClr val="102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1100">
                <a:solidFill>
                  <a:srgbClr val="FFFFFF"/>
                </a:solidFill>
                <a:latin typeface="Segoe UI"/>
              </a:rPr>
              <a:t>Retrieve + generate_answer()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1417320"/>
            <a:ext cx="4160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E7D32"/>
                </a:solidFill>
                <a:latin typeface="Consolas"/>
              </a:rPr>
              <a:t>OUTPUT GUARD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52360" y="1737360"/>
            <a:ext cx="3108960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1100">
                <a:solidFill>
                  <a:srgbClr val="1A1E2B"/>
                </a:solidFill>
                <a:latin typeface="Segoe UI"/>
              </a:rPr>
              <a:t>Empty answer</a:t>
            </a:r>
          </a:p>
          <a:p>
            <a:pPr algn="ctr"/>
            <a:r>
              <a:rPr sz="850">
                <a:solidFill>
                  <a:srgbClr val="5B6478"/>
                </a:solidFill>
                <a:latin typeface="Segoe UI"/>
              </a:rPr>
              <a:t>→ disclaimer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634472" y="1856232"/>
            <a:ext cx="978408" cy="365760"/>
          </a:xfrm>
          <a:prstGeom prst="roundRect">
            <a:avLst>
              <a:gd name="adj" fmla="val 10000"/>
            </a:avLst>
          </a:prstGeom>
          <a:solidFill>
            <a:srgbClr val="E1F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850">
                <a:solidFill>
                  <a:srgbClr val="2E7D32"/>
                </a:solidFill>
                <a:latin typeface="Segoe UI"/>
              </a:rPr>
              <a:t>REPAIR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006840.0" y="2340864"/>
            <a:ext cx="0.0" cy="128016"/>
          </a:xfrm>
          <a:prstGeom prst="line">
            <a:avLst/>
          </a:prstGeom>
          <a:ln w="12700">
            <a:solidFill>
              <a:srgbClr val="5B64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452360" y="2468880"/>
            <a:ext cx="3108960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1100">
                <a:solidFill>
                  <a:srgbClr val="1A1E2B"/>
                </a:solidFill>
                <a:latin typeface="Segoe UI"/>
              </a:rPr>
              <a:t>System-prompt leak</a:t>
            </a:r>
          </a:p>
          <a:p>
            <a:pPr algn="ctr"/>
            <a:r>
              <a:rPr sz="850">
                <a:solidFill>
                  <a:srgbClr val="5B6478"/>
                </a:solidFill>
                <a:latin typeface="Segoe UI"/>
              </a:rPr>
              <a:t>→ replace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634472" y="2587752"/>
            <a:ext cx="978408" cy="365760"/>
          </a:xfrm>
          <a:prstGeom prst="roundRect">
            <a:avLst>
              <a:gd name="adj" fmla="val 10000"/>
            </a:avLst>
          </a:prstGeom>
          <a:solidFill>
            <a:srgbClr val="E1F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850">
                <a:solidFill>
                  <a:srgbClr val="2E7D32"/>
                </a:solidFill>
                <a:latin typeface="Segoe UI"/>
              </a:rPr>
              <a:t>REPAIR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006840.0" y="3072384"/>
            <a:ext cx="0.0" cy="128016"/>
          </a:xfrm>
          <a:prstGeom prst="line">
            <a:avLst/>
          </a:prstGeom>
          <a:ln w="12700">
            <a:solidFill>
              <a:srgbClr val="5B64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452360" y="3200400"/>
            <a:ext cx="3108960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1100">
                <a:solidFill>
                  <a:srgbClr val="1A1E2B"/>
                </a:solidFill>
                <a:latin typeface="Segoe UI"/>
              </a:rPr>
              <a:t>Secret leak</a:t>
            </a:r>
          </a:p>
          <a:p>
            <a:pPr algn="ctr"/>
            <a:r>
              <a:rPr sz="850">
                <a:solidFill>
                  <a:srgbClr val="5B6478"/>
                </a:solidFill>
                <a:latin typeface="Segoe UI"/>
              </a:rPr>
              <a:t>→ redact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634472" y="3319272"/>
            <a:ext cx="978408" cy="365760"/>
          </a:xfrm>
          <a:prstGeom prst="roundRect">
            <a:avLst>
              <a:gd name="adj" fmla="val 10000"/>
            </a:avLst>
          </a:prstGeom>
          <a:solidFill>
            <a:srgbClr val="E1F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850">
                <a:solidFill>
                  <a:srgbClr val="2E7D32"/>
                </a:solidFill>
                <a:latin typeface="Segoe UI"/>
              </a:rPr>
              <a:t>REPAIR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006840.0" y="3803904"/>
            <a:ext cx="0.0" cy="128016"/>
          </a:xfrm>
          <a:prstGeom prst="line">
            <a:avLst/>
          </a:prstGeom>
          <a:ln w="12700">
            <a:solidFill>
              <a:srgbClr val="5B64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452360" y="3931920"/>
            <a:ext cx="3108960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1100">
                <a:solidFill>
                  <a:srgbClr val="1A1E2B"/>
                </a:solidFill>
                <a:latin typeface="Segoe UI"/>
              </a:rPr>
              <a:t>Low confidence / no citations</a:t>
            </a:r>
          </a:p>
          <a:p>
            <a:pPr algn="ctr"/>
            <a:r>
              <a:rPr sz="850">
                <a:solidFill>
                  <a:srgbClr val="5B6478"/>
                </a:solidFill>
                <a:latin typeface="Segoe UI"/>
              </a:rPr>
              <a:t>→ flag disclaimer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634472" y="4050792"/>
            <a:ext cx="978408" cy="365760"/>
          </a:xfrm>
          <a:prstGeom prst="roundRect">
            <a:avLst>
              <a:gd name="adj" fmla="val 10000"/>
            </a:avLst>
          </a:prstGeom>
          <a:solidFill>
            <a:srgbClr val="E1F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850">
                <a:solidFill>
                  <a:srgbClr val="2E7D32"/>
                </a:solidFill>
                <a:latin typeface="Segoe UI"/>
              </a:rPr>
              <a:t>ALLOW+flag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52360" y="4800600"/>
            <a:ext cx="3108960" cy="50292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1100">
                <a:solidFill>
                  <a:srgbClr val="FFFFFF"/>
                </a:solidFill>
                <a:latin typeface="Segoe UI"/>
              </a:rPr>
              <a:t>Response + guardrail block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3886200" y="4187952"/>
            <a:ext cx="3566160" cy="1600200"/>
          </a:xfrm>
          <a:prstGeom prst="line">
            <a:avLst/>
          </a:prstGeom>
          <a:ln w="19050">
            <a:solidFill>
              <a:srgbClr val="102B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48640" y="598932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478"/>
                </a:solidFill>
                <a:latin typeface="Segoe UI"/>
              </a:rPr>
              <a:t>Output guard prefers repair over refusal — a low-confidence answer still reaches the user, flagged, rather than being blocked outright. A REFUSE at any input stage short-circuits: 0 retrieval/LLM calls.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D4ED8"/>
                </a:solidFill>
                <a:latin typeface="Consolas"/>
              </a:rPr>
              <a:t>03 · AGENT INTERNALS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A1E2B"/>
                </a:solidFill>
                <a:latin typeface="Segoe UI Semibold"/>
              </a:rPr>
              <a:t>LangGraph Agent DAG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32720" y="365760"/>
            <a:ext cx="896112" cy="274320"/>
          </a:xfrm>
          <a:prstGeom prst="roundRect">
            <a:avLst>
              <a:gd name="adj" fmla="val 50000"/>
            </a:avLst>
          </a:prstGeom>
          <a:solidFill>
            <a:srgbClr val="FB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B4740E"/>
                </a:solidFill>
                <a:latin typeface="Consolas"/>
              </a:rPr>
              <a:t>NOT ACTIVE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2700">
            <a:solidFill>
              <a:srgbClr val="D7DE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0A3"/>
                </a:solidFill>
                <a:latin typeface="Consola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77440"/>
            <a:ext cx="1874519" cy="914400"/>
          </a:xfrm>
          <a:prstGeom prst="roundRect">
            <a:avLst>
              <a:gd name="adj" fmla="val 10000"/>
            </a:avLst>
          </a:prstGeom>
          <a:solidFill>
            <a:srgbClr val="102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1200">
                <a:solidFill>
                  <a:srgbClr val="FFFFFF"/>
                </a:solidFill>
                <a:latin typeface="Segoe UI"/>
              </a:rPr>
              <a:t>process_query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60319" y="2834640.0"/>
            <a:ext cx="502920" cy="0.0"/>
          </a:xfrm>
          <a:prstGeom prst="line">
            <a:avLst/>
          </a:prstGeom>
          <a:ln w="19050">
            <a:solidFill>
              <a:srgbClr val="5B64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063239" y="2377440"/>
            <a:ext cx="1874519" cy="914400"/>
          </a:xfrm>
          <a:prstGeom prst="roundRect">
            <a:avLst>
              <a:gd name="adj" fmla="val 10000"/>
            </a:avLst>
          </a:prstGeom>
          <a:solidFill>
            <a:srgbClr val="102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1200">
                <a:solidFill>
                  <a:srgbClr val="FFFFFF"/>
                </a:solidFill>
                <a:latin typeface="Segoe UI"/>
              </a:rPr>
              <a:t>plan_tools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37758" y="2834640.0"/>
            <a:ext cx="502920" cy="0.0"/>
          </a:xfrm>
          <a:prstGeom prst="line">
            <a:avLst/>
          </a:prstGeom>
          <a:ln w="19050">
            <a:solidFill>
              <a:srgbClr val="5B64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440678" y="2377440"/>
            <a:ext cx="1874519" cy="914400"/>
          </a:xfrm>
          <a:prstGeom prst="roundRect">
            <a:avLst>
              <a:gd name="adj" fmla="val 1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1200">
                <a:solidFill>
                  <a:srgbClr val="FFFFFF"/>
                </a:solidFill>
                <a:latin typeface="Segoe UI"/>
              </a:rPr>
              <a:t>execute_tools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197" y="2834640.0"/>
            <a:ext cx="502920" cy="0.0"/>
          </a:xfrm>
          <a:prstGeom prst="line">
            <a:avLst/>
          </a:prstGeom>
          <a:ln w="19050">
            <a:solidFill>
              <a:srgbClr val="5B64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818117" y="2377440"/>
            <a:ext cx="1874519" cy="914400"/>
          </a:xfrm>
          <a:prstGeom prst="roundRect">
            <a:avLst>
              <a:gd name="adj" fmla="val 10000"/>
            </a:avLst>
          </a:prstGeom>
          <a:solidFill>
            <a:srgbClr val="102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1200">
                <a:solidFill>
                  <a:srgbClr val="FFFFFF"/>
                </a:solidFill>
                <a:latin typeface="Segoe UI"/>
              </a:rPr>
              <a:t>generate_answer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692636" y="2834640.0"/>
            <a:ext cx="502920" cy="0.0"/>
          </a:xfrm>
          <a:prstGeom prst="line">
            <a:avLst/>
          </a:prstGeom>
          <a:ln w="19050">
            <a:solidFill>
              <a:srgbClr val="5B64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195556" y="2377440"/>
            <a:ext cx="1874519" cy="914400"/>
          </a:xfrm>
          <a:prstGeom prst="roundRect">
            <a:avLst>
              <a:gd name="adj" fmla="val 10000"/>
            </a:avLst>
          </a:prstGeom>
          <a:solidFill>
            <a:srgbClr val="102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1200">
                <a:solidFill>
                  <a:srgbClr val="FFFFFF"/>
                </a:solidFill>
                <a:latin typeface="Segoe UI"/>
              </a:rPr>
              <a:t>finalize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192024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5B6478"/>
                </a:solidFill>
                <a:latin typeface="Segoe UI"/>
              </a:rPr>
              <a:t>START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623059.5" y="2240280"/>
            <a:ext cx="0.0" cy="137160"/>
          </a:xfrm>
          <a:prstGeom prst="line">
            <a:avLst/>
          </a:prstGeom>
          <a:ln w="19050">
            <a:solidFill>
              <a:srgbClr val="5B64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95556" y="342900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5B6478"/>
                </a:solidFill>
                <a:latin typeface="Segoe UI"/>
              </a:rPr>
              <a:t>END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1132815.5" y="3291840"/>
            <a:ext cx="0.0" cy="137160"/>
          </a:xfrm>
          <a:prstGeom prst="line">
            <a:avLst/>
          </a:prstGeom>
          <a:ln w="19050">
            <a:solidFill>
              <a:srgbClr val="5B64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4000498.5" y="1691640"/>
            <a:ext cx="0.0" cy="685800"/>
          </a:xfrm>
          <a:prstGeom prst="line">
            <a:avLst/>
          </a:prstGeom>
          <a:ln w="15875">
            <a:solidFill>
              <a:srgbClr val="B474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000498.5" y="1691640"/>
            <a:ext cx="4754878.0" cy="0"/>
          </a:xfrm>
          <a:prstGeom prst="line">
            <a:avLst/>
          </a:prstGeom>
          <a:ln w="15875">
            <a:solidFill>
              <a:srgbClr val="B474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755376.5" y="1691640"/>
            <a:ext cx="0.0" cy="685800"/>
          </a:xfrm>
          <a:prstGeom prst="line">
            <a:avLst/>
          </a:prstGeom>
          <a:ln w="15875">
            <a:solidFill>
              <a:srgbClr val="B474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063239" y="1399032"/>
            <a:ext cx="425195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1">
                <a:solidFill>
                  <a:srgbClr val="B4740E"/>
                </a:solidFill>
                <a:latin typeface="Segoe UI"/>
              </a:rPr>
              <a:t>budget exhausted → skip straight to generate_answer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023360"/>
            <a:ext cx="7772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1200">
                <a:solidFill>
                  <a:srgbClr val="1A1E2B"/>
                </a:solidFill>
                <a:latin typeface="Segoe UI"/>
              </a:rPr>
              <a:t>AgentState — plain dataclass</a:t>
            </a:r>
          </a:p>
          <a:p>
            <a:pPr algn="ctr"/>
            <a:r>
              <a:rPr sz="950">
                <a:solidFill>
                  <a:srgbClr val="5B6478"/>
                </a:solidFill>
                <a:latin typeface="Segoe UI"/>
              </a:rPr>
              <a:t>tool_calls_used / file_reads_used vs max 20 / max 8. Not LangGraph's MessagesState (a TypedDict in current versions — breaks attribute access).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98932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478"/>
                </a:solidFill>
                <a:latin typeface="Segoe UI"/>
              </a:rPr>
              <a:t>_should_execute_tools is the conditional edge shown in amber — it routes straight to generate_answer once the per-query budget is exhausted.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D4ED8"/>
                </a:solidFill>
                <a:latin typeface="Consolas"/>
              </a:rPr>
              <a:t>03 · AGENT INTERNALS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A1E2B"/>
                </a:solidFill>
                <a:latin typeface="Segoe UI Semibold"/>
              </a:rPr>
              <a:t>Tool Registry &amp; Variant Isolation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32720" y="365760"/>
            <a:ext cx="896112" cy="274320"/>
          </a:xfrm>
          <a:prstGeom prst="roundRect">
            <a:avLst>
              <a:gd name="adj" fmla="val 50000"/>
            </a:avLst>
          </a:prstGeom>
          <a:solidFill>
            <a:srgbClr val="FB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B4740E"/>
                </a:solidFill>
                <a:latin typeface="Consolas"/>
              </a:rPr>
              <a:t>NOT ACTIVE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2700">
            <a:solidFill>
              <a:srgbClr val="D7DE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0A3"/>
                </a:solidFill>
                <a:latin typeface="Consolas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1554480"/>
            <a:ext cx="2743200" cy="594360"/>
          </a:xfrm>
          <a:prstGeom prst="roundRect">
            <a:avLst>
              <a:gd name="adj" fmla="val 10000"/>
            </a:avLst>
          </a:prstGeom>
          <a:solidFill>
            <a:srgbClr val="102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1300">
                <a:solidFill>
                  <a:srgbClr val="FFFFFF"/>
                </a:solidFill>
                <a:latin typeface="Segoe UI"/>
              </a:rPr>
              <a:t>ToolRegistry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Segoe UI"/>
              </a:rPr>
              <a:t>(service, docs_root)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06040"/>
            <a:ext cx="2057400" cy="548640"/>
          </a:xfrm>
          <a:prstGeom prst="roundRect">
            <a:avLst>
              <a:gd name="adj" fmla="val 1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1050">
                <a:solidFill>
                  <a:srgbClr val="FFFFFF"/>
                </a:solidFill>
                <a:latin typeface="Segoe UI"/>
              </a:rPr>
              <a:t>list_node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1668780.0" y="2148840"/>
            <a:ext cx="4411980.0" cy="457200"/>
          </a:xfrm>
          <a:prstGeom prst="line">
            <a:avLst/>
          </a:prstGeom>
          <a:ln w="12700">
            <a:solidFill>
              <a:srgbClr val="5B64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07208" y="2606040"/>
            <a:ext cx="2057400" cy="548640"/>
          </a:xfrm>
          <a:prstGeom prst="roundRect">
            <a:avLst>
              <a:gd name="adj" fmla="val 1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1050">
                <a:solidFill>
                  <a:srgbClr val="FFFFFF"/>
                </a:solidFill>
                <a:latin typeface="Segoe UI"/>
              </a:rPr>
              <a:t>read_html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3835908.0" y="2148840"/>
            <a:ext cx="2244852.0" cy="457200"/>
          </a:xfrm>
          <a:prstGeom prst="line">
            <a:avLst/>
          </a:prstGeom>
          <a:ln w="12700">
            <a:solidFill>
              <a:srgbClr val="5B64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974336" y="2606040"/>
            <a:ext cx="2057400" cy="548640"/>
          </a:xfrm>
          <a:prstGeom prst="roundRect">
            <a:avLst>
              <a:gd name="adj" fmla="val 1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1050">
                <a:solidFill>
                  <a:srgbClr val="FFFFFF"/>
                </a:solidFill>
                <a:latin typeface="Segoe UI"/>
              </a:rPr>
              <a:t>read_pdf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6003036.0" y="2148840"/>
            <a:ext cx="77724.0" cy="457200"/>
          </a:xfrm>
          <a:prstGeom prst="line">
            <a:avLst/>
          </a:prstGeom>
          <a:ln w="12700">
            <a:solidFill>
              <a:srgbClr val="5B64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141464" y="2606040"/>
            <a:ext cx="2057400" cy="548640"/>
          </a:xfrm>
          <a:prstGeom prst="roundRect">
            <a:avLst>
              <a:gd name="adj" fmla="val 1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1050">
                <a:solidFill>
                  <a:srgbClr val="FFFFFF"/>
                </a:solidFill>
                <a:latin typeface="Segoe UI"/>
              </a:rPr>
              <a:t>lexical_search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80760" y="2148840"/>
            <a:ext cx="2089404.0" cy="457200"/>
          </a:xfrm>
          <a:prstGeom prst="line">
            <a:avLst/>
          </a:prstGeom>
          <a:ln w="12700">
            <a:solidFill>
              <a:srgbClr val="5B64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308592" y="2606040"/>
            <a:ext cx="2057400" cy="548640"/>
          </a:xfrm>
          <a:prstGeom prst="roundRect">
            <a:avLst>
              <a:gd name="adj" fmla="val 1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1050">
                <a:solidFill>
                  <a:srgbClr val="FFFFFF"/>
                </a:solidFill>
                <a:latin typeface="Segoe UI"/>
              </a:rPr>
              <a:t>compare_variants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80760" y="2148840"/>
            <a:ext cx="4256532.0" cy="457200"/>
          </a:xfrm>
          <a:prstGeom prst="line">
            <a:avLst/>
          </a:prstGeom>
          <a:ln w="12700">
            <a:solidFill>
              <a:srgbClr val="5B64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2920" y="3429000"/>
            <a:ext cx="4434840" cy="1417320"/>
          </a:xfrm>
          <a:prstGeom prst="roundRect">
            <a:avLst>
              <a:gd name="adj" fmla="val 3500"/>
            </a:avLst>
          </a:prstGeom>
          <a:solidFill>
            <a:srgbClr val="FBF1DF"/>
          </a:solidFill>
          <a:ln w="15875">
            <a:solidFill>
              <a:srgbClr val="B4740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3483864"/>
            <a:ext cx="42153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4740E"/>
                </a:solidFill>
                <a:latin typeface="Consolas"/>
              </a:rPr>
              <a:t>VARIANT ISOLATION — SECURITY BOUNDARY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794760"/>
            <a:ext cx="40690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1A1E2B"/>
                </a:solidFill>
                <a:latin typeface="Segoe UI"/>
              </a:rPr>
              <a:t>read_html and list_node refuse any path outside the requested variant's subtree.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1A1E2B"/>
                </a:solidFill>
                <a:latin typeface="Segoe UI"/>
              </a:rPr>
              <a:t>CorpusStore.get_document() enforces isolation again at document fetch.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5120640"/>
            <a:ext cx="512064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1200">
                <a:solidFill>
                  <a:srgbClr val="1A1E2B"/>
                </a:solidFill>
                <a:latin typeface="Segoe UI"/>
              </a:rPr>
              <a:t>Budget ceiling</a:t>
            </a:r>
          </a:p>
          <a:p>
            <a:pPr algn="ctr"/>
            <a:r>
              <a:rPr sz="1000">
                <a:solidFill>
                  <a:srgbClr val="5B6478"/>
                </a:solidFill>
                <a:latin typeface="Segoe UI"/>
              </a:rPr>
              <a:t>max 20 tool calls · max 8 file reads per query — tracked on AgentState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98932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478"/>
                </a:solidFill>
                <a:latin typeface="Segoe UI"/>
              </a:rPr>
              <a:t>Every tool takes its dependencies at construction — without a real docs_root/service, tools return explanatory error results rather than failing silently.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D4ED8"/>
                </a:solidFill>
                <a:latin typeface="Consolas"/>
              </a:rPr>
              <a:t>04 · DEPLOYMENT &amp;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A1E2B"/>
                </a:solidFill>
                <a:latin typeface="Segoe UI Semibold"/>
              </a:rPr>
              <a:t>Render.com Deployment (production)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32720" y="365760"/>
            <a:ext cx="596188" cy="274320"/>
          </a:xfrm>
          <a:prstGeom prst="roundRect">
            <a:avLst>
              <a:gd name="adj" fmla="val 50000"/>
            </a:avLst>
          </a:prstGeom>
          <a:solidFill>
            <a:srgbClr val="E1F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2E7D32"/>
                </a:solidFill>
                <a:latin typeface="Consolas"/>
              </a:rPr>
              <a:t>ACTIVE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2700">
            <a:solidFill>
              <a:srgbClr val="D7DE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0A3"/>
                </a:solidFill>
                <a:latin typeface="Consola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2103120" cy="777240"/>
          </a:xfrm>
          <a:prstGeom prst="roundRect">
            <a:avLst>
              <a:gd name="adj" fmla="val 10000"/>
            </a:avLst>
          </a:prstGeom>
          <a:solidFill>
            <a:srgbClr val="1A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1300">
                <a:solidFill>
                  <a:srgbClr val="FFFFFF"/>
                </a:solidFill>
                <a:latin typeface="Segoe UI"/>
              </a:rPr>
              <a:t>GitHub</a:t>
            </a:r>
          </a:p>
          <a:p>
            <a:pPr algn="ctr"/>
            <a:r>
              <a:rPr sz="950">
                <a:solidFill>
                  <a:srgbClr val="FFFFFF"/>
                </a:solidFill>
                <a:latin typeface="Segoe UI"/>
              </a:rPr>
              <a:t>main branch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1737360"/>
            <a:ext cx="3291840" cy="960120"/>
          </a:xfrm>
          <a:prstGeom prst="roundRect">
            <a:avLst>
              <a:gd name="adj" fmla="val 1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1200">
                <a:solidFill>
                  <a:srgbClr val="FFFFFF"/>
                </a:solidFill>
                <a:latin typeface="Segoe UI"/>
              </a:rPr>
              <a:t>Render Web Service</a:t>
            </a:r>
          </a:p>
          <a:p>
            <a:pPr algn="ctr"/>
            <a:r>
              <a:rPr sz="950">
                <a:solidFill>
                  <a:srgbClr val="FFFFFF"/>
                </a:solidFill>
                <a:latin typeface="Segoe UI"/>
              </a:rPr>
              <a:t>document-assistant-api (Free)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3657600"/>
            <a:ext cx="3291840" cy="96012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1200">
                <a:solidFill>
                  <a:srgbClr val="FFFFFF"/>
                </a:solidFill>
                <a:latin typeface="Segoe UI"/>
              </a:rPr>
              <a:t>Render Static Site</a:t>
            </a:r>
          </a:p>
          <a:p>
            <a:pPr algn="ctr"/>
            <a:r>
              <a:rPr sz="950">
                <a:solidFill>
                  <a:srgbClr val="FFFFFF"/>
                </a:solidFill>
                <a:latin typeface="Segoe UI"/>
              </a:rPr>
              <a:t>document-assistant-ui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737360"/>
            <a:ext cx="310896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1150">
                <a:solidFill>
                  <a:srgbClr val="1A1E2B"/>
                </a:solidFill>
                <a:latin typeface="Segoe UI"/>
              </a:rPr>
              <a:t>FastAPI backend</a:t>
            </a:r>
          </a:p>
          <a:p>
            <a:pPr algn="ctr"/>
            <a:r>
              <a:rPr sz="900">
                <a:solidFill>
                  <a:srgbClr val="5B6478"/>
                </a:solidFill>
                <a:latin typeface="Segoe UI"/>
              </a:rPr>
              <a:t>OPENROUTER_API_KEY · DEBUG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657600"/>
            <a:ext cx="310896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1150">
                <a:solidFill>
                  <a:srgbClr val="1A1E2B"/>
                </a:solidFill>
                <a:latin typeface="Segoe UI"/>
              </a:rPr>
              <a:t>Static frontend bundle</a:t>
            </a:r>
          </a:p>
          <a:p>
            <a:pPr algn="ctr"/>
            <a:r>
              <a:rPr sz="900">
                <a:solidFill>
                  <a:srgbClr val="5B6478"/>
                </a:solidFill>
                <a:latin typeface="Segoe UI"/>
              </a:rPr>
              <a:t>VITE_API_URL baked at build 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5029200"/>
            <a:ext cx="310896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1200">
                <a:solidFill>
                  <a:srgbClr val="1A1E2B"/>
                </a:solidFill>
                <a:latin typeface="Segoe UI"/>
              </a:rPr>
              <a:t>Browser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2743200" y="2194560"/>
            <a:ext cx="1097280" cy="731520"/>
          </a:xfrm>
          <a:prstGeom prst="line">
            <a:avLst/>
          </a:prstGeom>
          <a:ln w="15875">
            <a:solidFill>
              <a:srgbClr val="5B64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743200" y="3154680"/>
            <a:ext cx="1097280" cy="960120"/>
          </a:xfrm>
          <a:prstGeom prst="line">
            <a:avLst/>
          </a:prstGeom>
          <a:ln w="15875">
            <a:solidFill>
              <a:srgbClr val="5B64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132320" y="2194560"/>
            <a:ext cx="1097280" cy="0"/>
          </a:xfrm>
          <a:prstGeom prst="line">
            <a:avLst/>
          </a:prstGeom>
          <a:ln w="15875">
            <a:solidFill>
              <a:srgbClr val="1D4E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32320" y="4114800"/>
            <a:ext cx="1097280" cy="0"/>
          </a:xfrm>
          <a:prstGeom prst="line">
            <a:avLst/>
          </a:prstGeom>
          <a:ln w="15875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9784080" y="4617720"/>
            <a:ext cx="0" cy="411480"/>
          </a:xfrm>
          <a:prstGeom prst="line">
            <a:avLst/>
          </a:prstGeom>
          <a:ln w="15875">
            <a:solidFill>
              <a:srgbClr val="5B64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464040" y="2651760"/>
            <a:ext cx="0" cy="2743200"/>
          </a:xfrm>
          <a:prstGeom prst="line">
            <a:avLst/>
          </a:prstGeom>
          <a:ln w="15875">
            <a:solidFill>
              <a:srgbClr val="5B647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468880" y="251460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i="1">
                <a:solidFill>
                  <a:srgbClr val="5B6478"/>
                </a:solidFill>
                <a:latin typeface="Segoe UI"/>
              </a:rPr>
              <a:t>pip install -r
requirements-render.txt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35661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i="1">
                <a:solidFill>
                  <a:srgbClr val="5B6478"/>
                </a:solidFill>
                <a:latin typeface="Segoe UI"/>
              </a:rPr>
              <a:t>npm run build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320040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i="1">
                <a:solidFill>
                  <a:srgbClr val="5B6478"/>
                </a:solidFill>
                <a:latin typeface="Segoe UI"/>
              </a:rPr>
              <a:t>REST calls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98932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478"/>
                </a:solidFill>
                <a:latin typeface="Segoe UI"/>
              </a:rPr>
              <a:t>Start: PYTHONPATH=src uvicorn compass.main:app --host 0.0.0.0 --port $PORT. Free tier sleeps after 15 min idle — first request after that takes ~30-60s to cold-start.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D4ED8"/>
                </a:solidFill>
                <a:latin typeface="Consolas"/>
              </a:rPr>
              <a:t>04 · DEPLOYMENT &amp;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A1E2B"/>
                </a:solidFill>
                <a:latin typeface="Segoe UI Semibold"/>
              </a:rPr>
              <a:t>Docker Compose — Local &amp; Observability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32720" y="365760"/>
            <a:ext cx="971092" cy="274320"/>
          </a:xfrm>
          <a:prstGeom prst="roundRect">
            <a:avLst>
              <a:gd name="adj" fmla="val 50000"/>
            </a:avLst>
          </a:prstGeom>
          <a:solidFill>
            <a:srgbClr val="E1F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2E7D32"/>
                </a:solidFill>
                <a:latin typeface="Consolas"/>
              </a:rPr>
              <a:t>DOCKER ONLY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2700">
            <a:solidFill>
              <a:srgbClr val="D7DE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0A3"/>
                </a:solidFill>
                <a:latin typeface="Consola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10881360" cy="4114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7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609344"/>
            <a:ext cx="1066190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B6478"/>
                </a:solidFill>
                <a:latin typeface="Consolas"/>
              </a:rPr>
              <a:t>COMPASS-NETWORK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148840"/>
            <a:ext cx="1481328" cy="868680"/>
          </a:xfrm>
          <a:prstGeom prst="roundRect">
            <a:avLst>
              <a:gd name="adj" fmla="val 1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1050">
                <a:solidFill>
                  <a:srgbClr val="FFFFFF"/>
                </a:solidFill>
                <a:latin typeface="Segoe UI"/>
              </a:rPr>
              <a:t>backend</a:t>
            </a:r>
          </a:p>
          <a:p>
            <a:pPr algn="ctr"/>
            <a:r>
              <a:rPr sz="850">
                <a:solidFill>
                  <a:srgbClr val="FFFFFF"/>
                </a:solidFill>
                <a:latin typeface="Segoe UI"/>
              </a:rPr>
              <a:t>:8000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59736" y="2148840"/>
            <a:ext cx="1481328" cy="86868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1050">
                <a:solidFill>
                  <a:srgbClr val="FFFFFF"/>
                </a:solidFill>
                <a:latin typeface="Segoe UI"/>
              </a:rPr>
              <a:t>frontend</a:t>
            </a:r>
          </a:p>
          <a:p>
            <a:pPr algn="ctr"/>
            <a:r>
              <a:rPr sz="850">
                <a:solidFill>
                  <a:srgbClr val="FFFFFF"/>
                </a:solidFill>
                <a:latin typeface="Segoe UI"/>
              </a:rPr>
              <a:t>:3000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50792" y="2148840"/>
            <a:ext cx="1481328" cy="868680"/>
          </a:xfrm>
          <a:prstGeom prst="roundRect">
            <a:avLst>
              <a:gd name="adj" fmla="val 10000"/>
            </a:avLst>
          </a:prstGeom>
          <a:solidFill>
            <a:srgbClr val="5B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1050">
                <a:solidFill>
                  <a:srgbClr val="FFFFFF"/>
                </a:solidFill>
                <a:latin typeface="Segoe UI"/>
              </a:rPr>
              <a:t>postgres</a:t>
            </a:r>
          </a:p>
          <a:p>
            <a:pPr algn="ctr"/>
            <a:r>
              <a:rPr sz="850">
                <a:solidFill>
                  <a:srgbClr val="FFFFFF"/>
                </a:solidFill>
                <a:latin typeface="Segoe UI"/>
              </a:rPr>
              <a:t>internal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41848" y="2148840"/>
            <a:ext cx="1481328" cy="868680"/>
          </a:xfrm>
          <a:prstGeom prst="roundRect">
            <a:avLst>
              <a:gd name="adj" fmla="val 10000"/>
            </a:avLst>
          </a:prstGeom>
          <a:solidFill>
            <a:srgbClr val="B47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1050">
                <a:solidFill>
                  <a:srgbClr val="FFFFFF"/>
                </a:solidFill>
                <a:latin typeface="Segoe UI"/>
              </a:rPr>
              <a:t>prometheus</a:t>
            </a:r>
          </a:p>
          <a:p>
            <a:pPr algn="ctr"/>
            <a:r>
              <a:rPr sz="850">
                <a:solidFill>
                  <a:srgbClr val="FFFFFF"/>
                </a:solidFill>
                <a:latin typeface="Segoe UI"/>
              </a:rPr>
              <a:t>:9090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32904" y="2148840"/>
            <a:ext cx="1481328" cy="868680"/>
          </a:xfrm>
          <a:prstGeom prst="roundRect">
            <a:avLst>
              <a:gd name="adj" fmla="val 10000"/>
            </a:avLst>
          </a:prstGeom>
          <a:solidFill>
            <a:srgbClr val="B47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1050">
                <a:solidFill>
                  <a:srgbClr val="FFFFFF"/>
                </a:solidFill>
                <a:latin typeface="Segoe UI"/>
              </a:rPr>
              <a:t>jaeger</a:t>
            </a:r>
          </a:p>
          <a:p>
            <a:pPr algn="ctr"/>
            <a:r>
              <a:rPr sz="850">
                <a:solidFill>
                  <a:srgbClr val="FFFFFF"/>
                </a:solidFill>
                <a:latin typeface="Segoe UI"/>
              </a:rPr>
              <a:t>:16686 / :4317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2148840"/>
            <a:ext cx="1481328" cy="868680"/>
          </a:xfrm>
          <a:prstGeom prst="roundRect">
            <a:avLst>
              <a:gd name="adj" fmla="val 10000"/>
            </a:avLst>
          </a:prstGeom>
          <a:solidFill>
            <a:srgbClr val="B47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1050">
                <a:solidFill>
                  <a:srgbClr val="FFFFFF"/>
                </a:solidFill>
                <a:latin typeface="Segoe UI"/>
              </a:rPr>
              <a:t>grafana</a:t>
            </a:r>
          </a:p>
          <a:p>
            <a:pPr algn="ctr"/>
            <a:r>
              <a:rPr sz="850">
                <a:solidFill>
                  <a:srgbClr val="FFFFFF"/>
                </a:solidFill>
                <a:latin typeface="Segoe UI"/>
              </a:rPr>
              <a:t>3001→3000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415016" y="2148840"/>
            <a:ext cx="1481328" cy="868680"/>
          </a:xfrm>
          <a:prstGeom prst="roundRect">
            <a:avLst>
              <a:gd name="adj" fmla="val 10000"/>
            </a:avLst>
          </a:prstGeom>
          <a:solidFill>
            <a:srgbClr val="B47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1050">
                <a:solidFill>
                  <a:srgbClr val="FFFFFF"/>
                </a:solidFill>
                <a:latin typeface="Segoe UI"/>
              </a:rPr>
              <a:t>alertmanager</a:t>
            </a:r>
          </a:p>
          <a:p>
            <a:pPr algn="ctr"/>
            <a:r>
              <a:rPr sz="850">
                <a:solidFill>
                  <a:srgbClr val="FFFFFF"/>
                </a:solidFill>
                <a:latin typeface="Segoe UI"/>
              </a:rPr>
              <a:t>:9093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09344.0" y="3017520"/>
            <a:ext cx="0.0" cy="457200"/>
          </a:xfrm>
          <a:prstGeom prst="line">
            <a:avLst/>
          </a:prstGeom>
          <a:ln w="15875">
            <a:solidFill>
              <a:srgbClr val="5B64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609344.0" y="3474720"/>
            <a:ext cx="3182112.0" cy="0"/>
          </a:xfrm>
          <a:prstGeom prst="line">
            <a:avLst/>
          </a:prstGeom>
          <a:ln w="15875">
            <a:solidFill>
              <a:srgbClr val="5B64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4791456.0" y="3017520"/>
            <a:ext cx="0.0" cy="457200"/>
          </a:xfrm>
          <a:prstGeom prst="line">
            <a:avLst/>
          </a:prstGeom>
          <a:ln w="15875">
            <a:solidFill>
              <a:srgbClr val="5B64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819656" y="35204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i="1">
                <a:solidFill>
                  <a:srgbClr val="5B6478"/>
                </a:solidFill>
                <a:latin typeface="Segoe UI"/>
              </a:rPr>
              <a:t>reads/writes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609344.0" y="3017520"/>
            <a:ext cx="4773168.0" cy="822960"/>
          </a:xfrm>
          <a:prstGeom prst="line">
            <a:avLst/>
          </a:prstGeom>
          <a:ln w="15875">
            <a:solidFill>
              <a:srgbClr val="B474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660904" y="384048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i="1">
                <a:solidFill>
                  <a:srgbClr val="5B6478"/>
                </a:solidFill>
                <a:latin typeface="Segoe UI"/>
              </a:rPr>
              <a:t>metrics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609344.0" y="3017520"/>
            <a:ext cx="6364224.0" cy="1188720"/>
          </a:xfrm>
          <a:prstGeom prst="line">
            <a:avLst/>
          </a:prstGeom>
          <a:ln w="15875">
            <a:solidFill>
              <a:srgbClr val="B474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502152" y="42519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i="1">
                <a:solidFill>
                  <a:srgbClr val="5B6478"/>
                </a:solidFill>
                <a:latin typeface="Segoe UI"/>
              </a:rPr>
              <a:t>traces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382512.0" y="3840480"/>
            <a:ext cx="3182112.0" cy="0"/>
          </a:xfrm>
          <a:prstGeom prst="line">
            <a:avLst/>
          </a:prstGeom>
          <a:ln w="15875">
            <a:solidFill>
              <a:srgbClr val="B4740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382512.0" y="3840480"/>
            <a:ext cx="4773168.0" cy="731520"/>
          </a:xfrm>
          <a:prstGeom prst="line">
            <a:avLst/>
          </a:prstGeom>
          <a:ln w="15875">
            <a:solidFill>
              <a:srgbClr val="B4740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641848" y="3931920"/>
            <a:ext cx="1481328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950">
                <a:solidFill>
                  <a:srgbClr val="B4740E"/>
                </a:solidFill>
                <a:latin typeface="Segoe UI"/>
              </a:rPr>
              <a:t>→ Grafana</a:t>
            </a:r>
          </a:p>
          <a:p>
            <a:pPr algn="ctr"/>
            <a:r>
              <a:rPr sz="800">
                <a:solidFill>
                  <a:srgbClr val="5B6478"/>
                </a:solidFill>
                <a:latin typeface="Segoe UI"/>
              </a:rPr>
              <a:t>reads metrics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23960" y="3931920"/>
            <a:ext cx="1481328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900">
                <a:solidFill>
                  <a:srgbClr val="B4740E"/>
                </a:solidFill>
                <a:latin typeface="Segoe UI"/>
              </a:rPr>
              <a:t>→ Alertmanager</a:t>
            </a:r>
          </a:p>
          <a:p>
            <a:pPr algn="ctr"/>
            <a:r>
              <a:rPr sz="800">
                <a:solidFill>
                  <a:srgbClr val="5B6478"/>
                </a:solidFill>
                <a:latin typeface="Segoe UI"/>
              </a:rPr>
              <a:t>reads metrics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98932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478"/>
                </a:solidFill>
                <a:latin typeface="Segoe UI"/>
              </a:rPr>
              <a:t>Grafana's host port (3001) is easy to mis-document as 3000 — it's published on 3001 but listens on 3000 internally. Not present on the Render deployment, which has no observability stack.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D4ED8"/>
                </a:solidFill>
                <a:latin typeface="Consolas"/>
              </a:rPr>
              <a:t>04 · DEPLOYMENT &amp;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A1E2B"/>
                </a:solidFill>
                <a:latin typeface="Segoe UI Semibold"/>
              </a:rPr>
              <a:t>Documentation Corpus → Search Index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32720" y="365760"/>
            <a:ext cx="1495958" cy="274320"/>
          </a:xfrm>
          <a:prstGeom prst="roundRect">
            <a:avLst>
              <a:gd name="adj" fmla="val 50000"/>
            </a:avLst>
          </a:prstGeom>
          <a:solidFill>
            <a:srgbClr val="E1F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2E7D32"/>
                </a:solidFill>
                <a:latin typeface="Consolas"/>
              </a:rPr>
              <a:t>CORPUS+BM25 ACTIVE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2700">
            <a:solidFill>
              <a:srgbClr val="D7DE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0A3"/>
                </a:solidFill>
                <a:latin typeface="Consola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288036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1100">
                <a:solidFill>
                  <a:srgbClr val="1A1E2B"/>
                </a:solidFill>
                <a:latin typeface="Segoe UI"/>
              </a:rPr>
              <a:t>CloudNative</a:t>
            </a:r>
          </a:p>
          <a:p>
            <a:pPr algn="ctr"/>
            <a:r>
              <a:rPr sz="850">
                <a:solidFill>
                  <a:srgbClr val="5B6478"/>
                </a:solidFill>
                <a:latin typeface="Segoe UI"/>
              </a:rPr>
              <a:t>~383 HTML · 4 PDFs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737360"/>
            <a:ext cx="288036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1100">
                <a:solidFill>
                  <a:srgbClr val="1A1E2B"/>
                </a:solidFill>
                <a:latin typeface="Segoe UI"/>
              </a:rPr>
              <a:t>ServerBased</a:t>
            </a:r>
          </a:p>
          <a:p>
            <a:pPr algn="ctr"/>
            <a:r>
              <a:rPr sz="850">
                <a:solidFill>
                  <a:srgbClr val="5B6478"/>
                </a:solidFill>
                <a:latin typeface="Segoe UI"/>
              </a:rPr>
              <a:t>~3,200 HTML (4 subsystems) · 13 PDFs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737360"/>
            <a:ext cx="288036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1100">
                <a:solidFill>
                  <a:srgbClr val="1A1E2B"/>
                </a:solidFill>
                <a:latin typeface="Segoe UI"/>
              </a:rPr>
              <a:t>OTDS_DirectoryServices</a:t>
            </a:r>
          </a:p>
          <a:p>
            <a:pPr algn="ctr"/>
            <a:r>
              <a:rPr sz="850">
                <a:solidFill>
                  <a:srgbClr val="5B6478"/>
                </a:solidFill>
                <a:latin typeface="Segoe UI"/>
              </a:rPr>
              <a:t>3 PDFs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2880360"/>
            <a:ext cx="3108960" cy="640080"/>
          </a:xfrm>
          <a:prstGeom prst="roundRect">
            <a:avLst>
              <a:gd name="adj" fmla="val 1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1200">
                <a:solidFill>
                  <a:srgbClr val="FFFFFF"/>
                </a:solidFill>
                <a:latin typeface="Segoe UI"/>
              </a:rPr>
              <a:t>CorpusStore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Segoe UI"/>
              </a:rPr>
              <a:t>walk + parse + extract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260.0" y="2514600"/>
            <a:ext cx="3954780.0" cy="365760"/>
          </a:xfrm>
          <a:prstGeom prst="line">
            <a:avLst/>
          </a:prstGeom>
          <a:ln w="12700">
            <a:solidFill>
              <a:srgbClr val="5B64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097780.0" y="2514600"/>
            <a:ext cx="937260.0" cy="365760"/>
          </a:xfrm>
          <a:prstGeom prst="line">
            <a:avLst/>
          </a:prstGeom>
          <a:ln w="12700">
            <a:solidFill>
              <a:srgbClr val="5B64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6035040" y="2514600"/>
            <a:ext cx="2080260.0" cy="365760"/>
          </a:xfrm>
          <a:prstGeom prst="line">
            <a:avLst/>
          </a:prstGeom>
          <a:ln w="12700">
            <a:solidFill>
              <a:srgbClr val="5B64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480560" y="3794760"/>
            <a:ext cx="3108960" cy="54864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1000">
                <a:solidFill>
                  <a:srgbClr val="FFFFFF"/>
                </a:solidFill>
                <a:latin typeface="Segoe UI"/>
              </a:rPr>
              <a:t>.atlas/corpus_{variant}.json.gz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35040" y="3520440"/>
            <a:ext cx="0" cy="274320"/>
          </a:xfrm>
          <a:prstGeom prst="line">
            <a:avLst/>
          </a:prstGeom>
          <a:ln w="15875">
            <a:solidFill>
              <a:srgbClr val="5B64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480560" y="4617720"/>
            <a:ext cx="3108960" cy="54864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1000">
                <a:solidFill>
                  <a:srgbClr val="FFFFFF"/>
                </a:solidFill>
                <a:latin typeface="Segoe UI"/>
              </a:rPr>
              <a:t>BM25Index — builds ~1-2s from cache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35040" y="4343400"/>
            <a:ext cx="0" cy="274320"/>
          </a:xfrm>
          <a:prstGeom prst="line">
            <a:avLst/>
          </a:prstGeom>
          <a:ln w="15875">
            <a:solidFill>
              <a:srgbClr val="5B64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412480" y="2880360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B4740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1100">
                <a:solidFill>
                  <a:srgbClr val="B4740E"/>
                </a:solidFill>
                <a:latin typeface="Segoe UI"/>
              </a:rPr>
              <a:t>IndexTreeBuilder</a:t>
            </a:r>
          </a:p>
          <a:p>
            <a:pPr algn="ctr"/>
            <a:r>
              <a:rPr sz="900">
                <a:solidFill>
                  <a:srgbClr val="5B6478"/>
                </a:solidFill>
                <a:latin typeface="Segoe UI"/>
              </a:rPr>
              <a:t>Claude Haiku summaries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3794760"/>
            <a:ext cx="29260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B4740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1000">
                <a:solidFill>
                  <a:srgbClr val="B4740E"/>
                </a:solidFill>
                <a:latin typeface="Segoe UI"/>
              </a:rPr>
              <a:t>.atlas/index.json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589520" y="3200400"/>
            <a:ext cx="822960" cy="0"/>
          </a:xfrm>
          <a:prstGeom prst="line">
            <a:avLst/>
          </a:prstGeom>
          <a:ln w="15875">
            <a:solidFill>
              <a:srgbClr val="B4740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875520" y="3520440"/>
            <a:ext cx="0" cy="274320"/>
          </a:xfrm>
          <a:prstGeom prst="line">
            <a:avLst/>
          </a:prstGeom>
          <a:ln w="15875">
            <a:solidFill>
              <a:srgbClr val="B4740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412480" y="260604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B4740E"/>
                </a:solidFill>
                <a:latin typeface="Consolas"/>
              </a:rPr>
              <a:t>PLANNED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98932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478"/>
                </a:solidFill>
                <a:latin typeface="Segoe UI"/>
              </a:rPr>
              <a:t>~3,970 documents indexed today via scripts/build_index.py. The hierarchical index.json tree is designed but not yet the active search path — retrieval/bm25.py answers real queries today.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D4ED8"/>
                </a:solidFill>
                <a:latin typeface="Consolas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A1E2B"/>
                </a:solidFill>
                <a:latin typeface="Segoe UI Semibold"/>
              </a:rPr>
              <a:t>Status at a Glance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2700">
            <a:solidFill>
              <a:srgbClr val="D7DE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0A3"/>
                </a:solidFill>
                <a:latin typeface="Consola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7D32"/>
                </a:solidFill>
                <a:latin typeface="Consolas"/>
              </a:rPr>
              <a:t>ACTIVE TODAY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039112"/>
            <a:ext cx="82296" cy="82296"/>
          </a:xfrm>
          <a:prstGeom prst="ellipse">
            <a:avLst/>
          </a:prstGeom>
          <a:solidFill>
            <a:srgbClr val="1A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88289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A1E2B"/>
                </a:solidFill>
                <a:latin typeface="Segoe UI"/>
              </a:rPr>
              <a:t>Full-corpus retrieval (BM25) + cited LLM answers (Path A)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606040"/>
            <a:ext cx="82296" cy="82296"/>
          </a:xfrm>
          <a:prstGeom prst="ellipse">
            <a:avLst/>
          </a:prstGeom>
          <a:solidFill>
            <a:srgbClr val="1A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532888"/>
            <a:ext cx="488289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A1E2B"/>
                </a:solidFill>
                <a:latin typeface="Segoe UI"/>
              </a:rPr>
              <a:t>Guardrails pipeline — input, output, rate limiting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172968"/>
            <a:ext cx="82296" cy="82296"/>
          </a:xfrm>
          <a:prstGeom prst="ellipse">
            <a:avLst/>
          </a:prstGeom>
          <a:solidFill>
            <a:srgbClr val="1A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099816"/>
            <a:ext cx="488289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A1E2B"/>
                </a:solidFill>
                <a:latin typeface="Segoe UI"/>
              </a:rPr>
              <a:t>Frontend chat UI with citations &amp; reasoning trail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739896"/>
            <a:ext cx="82296" cy="82296"/>
          </a:xfrm>
          <a:prstGeom prst="ellipse">
            <a:avLst/>
          </a:prstGeom>
          <a:solidFill>
            <a:srgbClr val="1A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3666744"/>
            <a:ext cx="488289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A1E2B"/>
                </a:solidFill>
                <a:latin typeface="Segoe UI"/>
              </a:rPr>
              <a:t>Render.com deployment — API + static site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306824"/>
            <a:ext cx="82296" cy="82296"/>
          </a:xfrm>
          <a:prstGeom prst="ellipse">
            <a:avLst/>
          </a:prstGeom>
          <a:solidFill>
            <a:srgbClr val="1A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4233672"/>
            <a:ext cx="488289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A1E2B"/>
                </a:solidFill>
                <a:latin typeface="Segoe UI"/>
              </a:rPr>
              <a:t>Docker Compose observability stack (local only)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55448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4740E"/>
                </a:solidFill>
                <a:latin typeface="Consolas"/>
              </a:rPr>
              <a:t>NOT ACTIVE / PLANNED</a:t>
            </a:r>
          </a:p>
        </p:txBody>
      </p:sp>
      <p:sp>
        <p:nvSpPr>
          <p:cNvPr id="19" name="Oval 18"/>
          <p:cNvSpPr/>
          <p:nvPr/>
        </p:nvSpPr>
        <p:spPr>
          <a:xfrm>
            <a:off x="6309360" y="2039112"/>
            <a:ext cx="82296" cy="82296"/>
          </a:xfrm>
          <a:prstGeom prst="ellipse">
            <a:avLst/>
          </a:prstGeom>
          <a:solidFill>
            <a:srgbClr val="B47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1965960"/>
            <a:ext cx="49743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A1E2B"/>
                </a:solidFill>
                <a:latin typeface="Segoe UI"/>
              </a:rPr>
              <a:t>CompassRouter / full LangGraph agent path (Path B)</a:t>
            </a:r>
          </a:p>
        </p:txBody>
      </p:sp>
      <p:sp>
        <p:nvSpPr>
          <p:cNvPr id="21" name="Oval 20"/>
          <p:cNvSpPr/>
          <p:nvPr/>
        </p:nvSpPr>
        <p:spPr>
          <a:xfrm>
            <a:off x="6309360" y="2606040"/>
            <a:ext cx="82296" cy="82296"/>
          </a:xfrm>
          <a:prstGeom prst="ellipse">
            <a:avLst/>
          </a:prstGeom>
          <a:solidFill>
            <a:srgbClr val="B47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47104" y="2532888"/>
            <a:ext cx="49743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A1E2B"/>
                </a:solidFill>
                <a:latin typeface="Segoe UI"/>
              </a:rPr>
              <a:t>LLM-driven tool planning (currently fixed search-then-read)</a:t>
            </a:r>
          </a:p>
        </p:txBody>
      </p:sp>
      <p:sp>
        <p:nvSpPr>
          <p:cNvPr id="23" name="Oval 22"/>
          <p:cNvSpPr/>
          <p:nvPr/>
        </p:nvSpPr>
        <p:spPr>
          <a:xfrm>
            <a:off x="6309360" y="3172968"/>
            <a:ext cx="82296" cy="82296"/>
          </a:xfrm>
          <a:prstGeom prst="ellipse">
            <a:avLst/>
          </a:prstGeom>
          <a:solidFill>
            <a:srgbClr val="B47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47104" y="3099816"/>
            <a:ext cx="49743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A1E2B"/>
                </a:solidFill>
                <a:latin typeface="Segoe UI"/>
              </a:rPr>
              <a:t>Index-tree (.atlas/index.json) hierarchical navigation</a:t>
            </a:r>
          </a:p>
        </p:txBody>
      </p:sp>
      <p:sp>
        <p:nvSpPr>
          <p:cNvPr id="25" name="Oval 24"/>
          <p:cNvSpPr/>
          <p:nvPr/>
        </p:nvSpPr>
        <p:spPr>
          <a:xfrm>
            <a:off x="6309360" y="3739896"/>
            <a:ext cx="82296" cy="82296"/>
          </a:xfrm>
          <a:prstGeom prst="ellipse">
            <a:avLst/>
          </a:prstGeom>
          <a:solidFill>
            <a:srgbClr val="B47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47104" y="3666744"/>
            <a:ext cx="49743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A1E2B"/>
                </a:solidFill>
                <a:latin typeface="Segoe UI"/>
              </a:rPr>
              <a:t>PDF corpus inclusion (HTML-only today)</a:t>
            </a:r>
          </a:p>
        </p:txBody>
      </p:sp>
      <p:sp>
        <p:nvSpPr>
          <p:cNvPr id="27" name="Oval 26"/>
          <p:cNvSpPr/>
          <p:nvPr/>
        </p:nvSpPr>
        <p:spPr>
          <a:xfrm>
            <a:off x="6309360" y="4306824"/>
            <a:ext cx="82296" cy="82296"/>
          </a:xfrm>
          <a:prstGeom prst="ellipse">
            <a:avLst/>
          </a:prstGeom>
          <a:solidFill>
            <a:srgbClr val="B47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47104" y="4233672"/>
            <a:ext cx="49743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A1E2B"/>
                </a:solidFill>
                <a:latin typeface="Segoe UI"/>
              </a:rPr>
              <a:t>300-query evaluation harness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120640"/>
            <a:ext cx="10881360" cy="822960"/>
          </a:xfrm>
          <a:prstGeom prst="roundRect">
            <a:avLst>
              <a:gd name="adj" fmla="val 10000"/>
            </a:avLst>
          </a:prstGeom>
          <a:solidFill>
            <a:srgbClr val="102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b="1" sz="1300">
                <a:solidFill>
                  <a:srgbClr val="FFFFFF"/>
                </a:solidFill>
                <a:latin typeface="Segoe UI"/>
              </a:rPr>
              <a:t>Open decision for this review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Segoe UI"/>
              </a:rPr>
              <a:t>Activating Path B requires: CompassRouter.register_with_app(app) + removing app.py's inline routes to avoid conflicts.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98932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478"/>
                </a:solidFill>
                <a:latin typeface="Segoe UI"/>
              </a:rPr>
              <a:t>Full diagram detail (with branch logic) is available in the companion web reference for follow-up discussion.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